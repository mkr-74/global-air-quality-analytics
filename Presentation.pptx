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000125" y="428625"/>
            <a:ext cx="714375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spc="157" kern="0" dirty="0">
                <a:solidFill>
                  <a:srgbClr val="888888"/>
                </a:solidFill>
                <a:latin typeface="Plus Jakarta Sans" pitchFamily="34" charset="0"/>
              </a:rPr>
              <a:t>GRADUATION PROJECT · S4 COHORT · JULY 2026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1000125" y="754335"/>
            <a:ext cx="714375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600" b="1" dirty="0">
                <a:solidFill>
                  <a:srgbClr val="1A1A2E"/>
                </a:solidFill>
                <a:latin typeface="Plus Jakarta Sans" pitchFamily="34" charset="0"/>
              </a:rPr>
              <a:t>Global Air Quality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00125" y="1402966"/>
            <a:ext cx="7143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lus Jakarta Sans" pitchFamily="34" charset="0"/>
              </a:rPr>
              <a:t>Monitoring, Analyzing &amp; Forecasting Air Quality Across the Globe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1969" y="1917316"/>
            <a:ext cx="50006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Shape 6"/>
          <p:cNvSpPr/>
          <p:nvPr/>
        </p:nvSpPr>
        <p:spPr>
          <a:xfrm>
            <a:off x="2071688" y="2224497"/>
            <a:ext cx="1164431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64556" y="2374516"/>
            <a:ext cx="978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238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164556" y="2645978"/>
            <a:ext cx="97869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Cities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3350419" y="2224497"/>
            <a:ext cx="1164431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3288" y="2374516"/>
            <a:ext cx="978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46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443288" y="2645978"/>
            <a:ext cx="97869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Countries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4629150" y="2224497"/>
            <a:ext cx="1164431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22019" y="2374516"/>
            <a:ext cx="978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21K+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722019" y="2645978"/>
            <a:ext cx="97869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Fact Records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5907881" y="2224497"/>
            <a:ext cx="1164431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0750" y="2374516"/>
            <a:ext cx="978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92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000750" y="2645978"/>
            <a:ext cx="97869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Days (Q4 2023)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000125" y="3218817"/>
            <a:ext cx="7143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Team: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Mohamed Kamel · Omar Fathy · Hasnaa Mohamed · Marwan Emad · Moustafa Khaled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000125" y="3424535"/>
            <a:ext cx="71437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Supervisor: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Engineer Mohamed El Emam · Program: GIZ4_DAT1_S4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001223" y="4189140"/>
            <a:ext cx="18551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 / 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698578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552984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Project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552984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What is this project?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An end-to-end data analytics pipeline transforming raw air quality observations into a governed, decision-ready Power BI dashboard branded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"AeroScan."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8713" y="1651434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Four Complementary Domains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1588" y="1902805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Data Engineering: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Bronze/Silver/Gold Medallion pipeline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210852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Dimensional Modeling: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Star schema with fact &amp; dimension tables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314240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Dashboard: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Six-page interactive Power BI experience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1588" y="251995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Machine Learning: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AQI prediction with 88.5% R²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672013" y="818629"/>
            <a:ext cx="3343275" cy="2022797"/>
          </a:xfrm>
          <a:prstGeom prst="roundRect">
            <a:avLst>
              <a:gd name="adj" fmla="val 353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22031" y="968648"/>
            <a:ext cx="3043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Key Deliverables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22044" y="1377181"/>
            <a:ext cx="12715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980B9"/>
                </a:solidFill>
                <a:latin typeface="Plus Jakarta Sans" pitchFamily="34" charset="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22044" y="1697199"/>
            <a:ext cx="12715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Pipeline Layers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493669" y="1377181"/>
            <a:ext cx="12715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7AE60"/>
                </a:solidFill>
                <a:latin typeface="Plus Jakarta Sans" pitchFamily="34" charset="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93669" y="1697199"/>
            <a:ext cx="12715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Star Schema Tables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922044" y="2134307"/>
            <a:ext cx="12715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F39C12"/>
                </a:solidFill>
                <a:latin typeface="Plus Jakarta Sans" pitchFamily="34" charset="0"/>
              </a:rPr>
              <a:t>6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922044" y="2454325"/>
            <a:ext cx="12715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Dashboard Pages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493669" y="2134307"/>
            <a:ext cx="1271588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E94560"/>
                </a:solidFill>
                <a:latin typeface="Plus Jakarta Sans" pitchFamily="34" charset="0"/>
              </a:rPr>
              <a:t>1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93669" y="2454325"/>
            <a:ext cx="12715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ML Prediction Model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4672013" y="2941439"/>
            <a:ext cx="3343275" cy="568598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2"/>
                </a:lnTo>
                <a:lnTo>
                  <a:pt x="21315" y="207"/>
                </a:lnTo>
                <a:lnTo>
                  <a:pt x="21395" y="457"/>
                </a:lnTo>
                <a:lnTo>
                  <a:pt x="21465" y="795"/>
                </a:lnTo>
                <a:lnTo>
                  <a:pt x="21522" y="1206"/>
                </a:lnTo>
                <a:lnTo>
                  <a:pt x="21565" y="1675"/>
                </a:lnTo>
                <a:lnTo>
                  <a:pt x="21591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1" y="19416"/>
                </a:lnTo>
                <a:lnTo>
                  <a:pt x="21565" y="19925"/>
                </a:lnTo>
                <a:lnTo>
                  <a:pt x="21522" y="20394"/>
                </a:lnTo>
                <a:lnTo>
                  <a:pt x="21465" y="20805"/>
                </a:lnTo>
                <a:lnTo>
                  <a:pt x="21395" y="21143"/>
                </a:lnTo>
                <a:lnTo>
                  <a:pt x="21315" y="21393"/>
                </a:lnTo>
                <a:lnTo>
                  <a:pt x="21229" y="21548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672013" y="2941439"/>
            <a:ext cx="28575" cy="568598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6" name="Text 23"/>
          <p:cNvSpPr/>
          <p:nvPr/>
        </p:nvSpPr>
        <p:spPr>
          <a:xfrm>
            <a:off x="4814888" y="3055739"/>
            <a:ext cx="30861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Dataset: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WAQI Q4 2023 archive — 238 cities, 46 countries, 92 days, 21,238 fact records after cleaning.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128713" y="3752924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8" name="Shape 25"/>
          <p:cNvSpPr/>
          <p:nvPr/>
        </p:nvSpPr>
        <p:spPr>
          <a:xfrm>
            <a:off x="1128713" y="3752924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9" name="Text 26"/>
          <p:cNvSpPr/>
          <p:nvPr/>
        </p:nvSpPr>
        <p:spPr>
          <a:xfrm>
            <a:off x="1278731" y="3852937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1278731" y="4021485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Welcome the audience. Emphasize this is a complete analytics pipeline — not just a dashboard. It includes data engineering, dimensional modeling, visualization, and machine learning.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7983252" y="4458593"/>
            <a:ext cx="20348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 / 24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751335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Problem Statement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751335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918642"/>
            <a:ext cx="3343275" cy="989967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30"/>
                </a:lnTo>
                <a:lnTo>
                  <a:pt x="21315" y="119"/>
                </a:lnTo>
                <a:lnTo>
                  <a:pt x="21395" y="263"/>
                </a:lnTo>
                <a:lnTo>
                  <a:pt x="21465" y="457"/>
                </a:lnTo>
                <a:lnTo>
                  <a:pt x="21522" y="693"/>
                </a:lnTo>
                <a:lnTo>
                  <a:pt x="21565" y="962"/>
                </a:lnTo>
                <a:lnTo>
                  <a:pt x="21591" y="1255"/>
                </a:lnTo>
                <a:lnTo>
                  <a:pt x="21600" y="1559"/>
                </a:lnTo>
                <a:lnTo>
                  <a:pt x="21600" y="20041"/>
                </a:lnTo>
                <a:lnTo>
                  <a:pt x="21591" y="20345"/>
                </a:lnTo>
                <a:lnTo>
                  <a:pt x="21565" y="20638"/>
                </a:lnTo>
                <a:lnTo>
                  <a:pt x="21522" y="20907"/>
                </a:lnTo>
                <a:lnTo>
                  <a:pt x="21465" y="21143"/>
                </a:lnTo>
                <a:lnTo>
                  <a:pt x="21395" y="21337"/>
                </a:lnTo>
                <a:lnTo>
                  <a:pt x="21315" y="21481"/>
                </a:lnTo>
                <a:lnTo>
                  <a:pt x="21229" y="21570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9F0"/>
          </a:solidFill>
          <a:ln/>
        </p:spPr>
      </p:sp>
      <p:sp>
        <p:nvSpPr>
          <p:cNvPr id="8" name="Shape 5"/>
          <p:cNvSpPr/>
          <p:nvPr/>
        </p:nvSpPr>
        <p:spPr>
          <a:xfrm>
            <a:off x="1128713" y="918642"/>
            <a:ext cx="28575" cy="989967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9" name="Text 6"/>
          <p:cNvSpPr/>
          <p:nvPr/>
        </p:nvSpPr>
        <p:spPr>
          <a:xfrm>
            <a:off x="1271588" y="1032942"/>
            <a:ext cx="3086100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The Challenge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1588" y="1284312"/>
            <a:ext cx="3086100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Raw air quality feeds are long-format, per-species logs with inconsistent casing, mixed units, duplicates, and physically implausible values.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8713" y="2008622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Three Failure Modes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71588" y="225999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Double-counting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from unresolved duplicate rows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1588" y="2465710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Distorted averages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from unvalidated outliers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271588" y="267142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Incomparable scales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across pollutant species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72013" y="818629"/>
            <a:ext cx="3343275" cy="1850008"/>
          </a:xfrm>
          <a:prstGeom prst="roundRect">
            <a:avLst>
              <a:gd name="adj" fmla="val 3861"/>
            </a:avLst>
          </a:prstGeom>
          <a:gradFill>
            <a:gsLst>
              <a:gs pos="0">
                <a:srgbClr val="FFF0F3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2031" y="968648"/>
            <a:ext cx="3043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lus Jakarta Sans" pitchFamily="34" charset="0"/>
              </a:rPr>
              <a:t>Real-World Impact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22031" y="1220019"/>
            <a:ext cx="30432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Without disciplined transformation, downstream analysis risks misleading conclusions affecting: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964906" y="1631454"/>
            <a:ext cx="2900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Public health policy decisions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964906" y="1837172"/>
            <a:ext cx="2900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Environmental research validity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964906" y="2042889"/>
            <a:ext cx="2900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Urban planning and regulation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964906" y="2248607"/>
            <a:ext cx="2900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Individual health awareness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72013" y="2768650"/>
            <a:ext cx="3343275" cy="568598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2"/>
                </a:lnTo>
                <a:lnTo>
                  <a:pt x="21315" y="207"/>
                </a:lnTo>
                <a:lnTo>
                  <a:pt x="21395" y="457"/>
                </a:lnTo>
                <a:lnTo>
                  <a:pt x="21465" y="795"/>
                </a:lnTo>
                <a:lnTo>
                  <a:pt x="21522" y="1206"/>
                </a:lnTo>
                <a:lnTo>
                  <a:pt x="21565" y="1675"/>
                </a:lnTo>
                <a:lnTo>
                  <a:pt x="21591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1" y="19416"/>
                </a:lnTo>
                <a:lnTo>
                  <a:pt x="21565" y="19925"/>
                </a:lnTo>
                <a:lnTo>
                  <a:pt x="21522" y="20394"/>
                </a:lnTo>
                <a:lnTo>
                  <a:pt x="21465" y="20805"/>
                </a:lnTo>
                <a:lnTo>
                  <a:pt x="21395" y="21143"/>
                </a:lnTo>
                <a:lnTo>
                  <a:pt x="21315" y="21393"/>
                </a:lnTo>
                <a:lnTo>
                  <a:pt x="21229" y="21548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672013" y="2768650"/>
            <a:ext cx="28575" cy="568598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4" name="Text 21"/>
          <p:cNvSpPr/>
          <p:nvPr/>
        </p:nvSpPr>
        <p:spPr>
          <a:xfrm>
            <a:off x="4814888" y="2882950"/>
            <a:ext cx="30861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Example: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Min reading exceeding max, or negative pollutant concentrations — both physically impossible.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3580135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713" y="3580135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7" name="Text 24"/>
          <p:cNvSpPr/>
          <p:nvPr/>
        </p:nvSpPr>
        <p:spPr>
          <a:xfrm>
            <a:off x="1278731" y="3680147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278731" y="3848695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Set the stage explaining why raw data cannot be trusted. The three failure modes provide a framework. WAQI data is valuable but needs significant preprocessing.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982583" y="4189140"/>
            <a:ext cx="20415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3 / 24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6244196"/>
          </a:xfrm>
          <a:prstGeom prst="roundRect">
            <a:avLst>
              <a:gd name="adj" fmla="val 1830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666838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Proposed Solution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666838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 three-stage Medallion pipeline ensuring every transformation is traceable and data quality is enforced centrally.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31503"/>
            <a:ext cx="6886575" cy="904242"/>
          </a:xfrm>
          <a:prstGeom prst="roundRect">
            <a:avLst>
              <a:gd name="adj" fmla="val 7900"/>
            </a:avLst>
          </a:prstGeom>
          <a:gradFill>
            <a:gsLst>
              <a:gs pos="0">
                <a:srgbClr val="FDF6ED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CD7F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5875" y="1288666"/>
            <a:ext cx="65722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CD7F32"/>
                </a:solidFill>
                <a:latin typeface="Plus Jakarta Sans" pitchFamily="34" charset="0"/>
              </a:rPr>
              <a:t>BRONZE LAYER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285875" y="1468599"/>
            <a:ext cx="657225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Raw Ingestion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5875" y="1708584"/>
            <a:ext cx="65722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Preserves untouched, auditable source data. No transformations — only ingestion metadata for traceability.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128713" y="2121471"/>
            <a:ext cx="6886575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Plus Jakarta Sans" pitchFamily="34" charset="0"/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128713" y="2429991"/>
            <a:ext cx="6886575" cy="904242"/>
          </a:xfrm>
          <a:prstGeom prst="roundRect">
            <a:avLst>
              <a:gd name="adj" fmla="val 7900"/>
            </a:avLst>
          </a:prstGeom>
          <a:gradFill>
            <a:gsLst>
              <a:gs pos="0">
                <a:srgbClr val="F5F5F5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AAAA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5875" y="2587154"/>
            <a:ext cx="65722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SILVER LAYER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85875" y="2767087"/>
            <a:ext cx="657225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Cleaning &amp; Feature Engineering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85875" y="3007072"/>
            <a:ext cx="65722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Standardizes units, removes invalids, calculates composite AQI, enriches with time-intelligence attributes.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128713" y="3419959"/>
            <a:ext cx="6886575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Plus Jakarta Sans" pitchFamily="34" charset="0"/>
              </a:rPr>
              <a:t>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28713" y="3728479"/>
            <a:ext cx="6886575" cy="904242"/>
          </a:xfrm>
          <a:prstGeom prst="roundRect">
            <a:avLst>
              <a:gd name="adj" fmla="val 7900"/>
            </a:avLst>
          </a:prstGeom>
          <a:gradFill>
            <a:gsLst>
              <a:gs pos="0">
                <a:srgbClr val="FFFDF0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C9A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85875" y="3885642"/>
            <a:ext cx="65722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C9A000"/>
                </a:solidFill>
                <a:latin typeface="Plus Jakarta Sans" pitchFamily="34" charset="0"/>
              </a:rPr>
              <a:t>GOLD LAYER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1285875" y="4065575"/>
            <a:ext cx="657225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Star Schema &amp; Dashboard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285875" y="4305560"/>
            <a:ext cx="65722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Restructures into star schema for fast Power BI querying. Surrogate keys minimize joins.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128713" y="4732734"/>
            <a:ext cx="6886575" cy="568598"/>
          </a:xfrm>
          <a:custGeom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23" name="Shape 20"/>
          <p:cNvSpPr/>
          <p:nvPr/>
        </p:nvSpPr>
        <p:spPr>
          <a:xfrm>
            <a:off x="1128713" y="4732734"/>
            <a:ext cx="28575" cy="568598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4" name="Text 21"/>
          <p:cNvSpPr/>
          <p:nvPr/>
        </p:nvSpPr>
        <p:spPr>
          <a:xfrm>
            <a:off x="1271588" y="4847034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Why Medallion?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Every transformation is traceable. Quality rules enforced once, centrally. Dashboard reflects a governed, reproducible dataset.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5444207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713" y="5444207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7" name="Text 24"/>
          <p:cNvSpPr/>
          <p:nvPr/>
        </p:nvSpPr>
        <p:spPr>
          <a:xfrm>
            <a:off x="1278731" y="554422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278731" y="5712768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Walk through each layer. Bronze = system of record. Silver = where the hard work happens. Gold = the product consumers see. Medallion is an industry standard.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980908" y="6004210"/>
            <a:ext cx="20582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4 / 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691435"/>
          </a:xfrm>
          <a:prstGeom prst="roundRect">
            <a:avLst>
              <a:gd name="adj" fmla="val 2436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16779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Business Value &amp; Impact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16779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818629"/>
            <a:ext cx="2200275" cy="1467148"/>
          </a:xfrm>
          <a:prstGeom prst="roundRect">
            <a:avLst>
              <a:gd name="adj" fmla="val 4869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78731" y="968648"/>
            <a:ext cx="19002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Plus Jakarta Sans" pitchFamily="34" charset="0"/>
              </a:rPr>
              <a:t>🌎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78731" y="1497285"/>
            <a:ext cx="1900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Global Visibility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8731" y="1748656"/>
            <a:ext cx="190023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Compare air quality across 238 cities in 46 countries on a unified scale.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471863" y="818629"/>
            <a:ext cx="2200275" cy="1467148"/>
          </a:xfrm>
          <a:prstGeom prst="roundRect">
            <a:avLst>
              <a:gd name="adj" fmla="val 4869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21881" y="968648"/>
            <a:ext cx="19002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Plus Jakarta Sans" pitchFamily="34" charset="0"/>
              </a:rPr>
              <a:t>📊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621881" y="1497285"/>
            <a:ext cx="1900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Data-Driven Decisions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21881" y="1748656"/>
            <a:ext cx="190023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Enable policymakers to identify pollution hotspots and seasonal trends.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5815013" y="818629"/>
            <a:ext cx="2200275" cy="1467148"/>
          </a:xfrm>
          <a:prstGeom prst="roundRect">
            <a:avLst>
              <a:gd name="adj" fmla="val 4869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5031" y="968648"/>
            <a:ext cx="190023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333333"/>
                </a:solidFill>
                <a:latin typeface="Plus Jakarta Sans" pitchFamily="34" charset="0"/>
              </a:rPr>
              <a:t>🔮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965031" y="1497285"/>
            <a:ext cx="190023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Predictive Capability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65031" y="1748656"/>
            <a:ext cx="190023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ML model predicts AQI from weather with 88.5% accuracy (R²).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28713" y="2485802"/>
            <a:ext cx="68865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Stakeholders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28713" y="2737172"/>
            <a:ext cx="1646634" cy="865733"/>
          </a:xfrm>
          <a:prstGeom prst="roundRect">
            <a:avLst>
              <a:gd name="adj" fmla="val 6601"/>
            </a:avLst>
          </a:prstGeom>
          <a:solidFill>
            <a:srgbClr val="F8F9FA"/>
          </a:solidFill>
          <a:ln/>
        </p:spPr>
      </p:sp>
      <p:sp>
        <p:nvSpPr>
          <p:cNvPr id="21" name="Text 18"/>
          <p:cNvSpPr/>
          <p:nvPr/>
        </p:nvSpPr>
        <p:spPr>
          <a:xfrm>
            <a:off x="1243013" y="2851472"/>
            <a:ext cx="141803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lus Jakarta Sans" pitchFamily="34" charset="0"/>
              </a:rPr>
              <a:t>🔬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43013" y="3214353"/>
            <a:ext cx="14180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Researchers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243013" y="3362920"/>
            <a:ext cx="141803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Academic analysis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2875359" y="2737172"/>
            <a:ext cx="1646634" cy="865733"/>
          </a:xfrm>
          <a:prstGeom prst="roundRect">
            <a:avLst>
              <a:gd name="adj" fmla="val 6601"/>
            </a:avLst>
          </a:prstGeom>
          <a:solidFill>
            <a:srgbClr val="F8F9FA"/>
          </a:solidFill>
          <a:ln/>
        </p:spPr>
      </p:sp>
      <p:sp>
        <p:nvSpPr>
          <p:cNvPr id="25" name="Text 22"/>
          <p:cNvSpPr/>
          <p:nvPr/>
        </p:nvSpPr>
        <p:spPr>
          <a:xfrm>
            <a:off x="2989659" y="2851472"/>
            <a:ext cx="141803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lus Jakarta Sans" pitchFamily="34" charset="0"/>
              </a:rPr>
              <a:t>🏛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989659" y="3214353"/>
            <a:ext cx="14180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Policymakers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989659" y="3362920"/>
            <a:ext cx="141803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Regulatory planning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4622006" y="2737172"/>
            <a:ext cx="1646634" cy="865733"/>
          </a:xfrm>
          <a:prstGeom prst="roundRect">
            <a:avLst>
              <a:gd name="adj" fmla="val 6601"/>
            </a:avLst>
          </a:prstGeom>
          <a:solidFill>
            <a:srgbClr val="F8F9FA"/>
          </a:solidFill>
          <a:ln/>
        </p:spPr>
      </p:sp>
      <p:sp>
        <p:nvSpPr>
          <p:cNvPr id="29" name="Text 26"/>
          <p:cNvSpPr/>
          <p:nvPr/>
        </p:nvSpPr>
        <p:spPr>
          <a:xfrm>
            <a:off x="4736306" y="2851472"/>
            <a:ext cx="141803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lus Jakarta Sans" pitchFamily="34" charset="0"/>
              </a:rPr>
              <a:t>🏥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736306" y="3214353"/>
            <a:ext cx="14180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Public Health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736306" y="3362920"/>
            <a:ext cx="141803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Risk assessment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6368653" y="2737172"/>
            <a:ext cx="1646634" cy="865733"/>
          </a:xfrm>
          <a:prstGeom prst="roundRect">
            <a:avLst>
              <a:gd name="adj" fmla="val 6601"/>
            </a:avLst>
          </a:prstGeom>
          <a:solidFill>
            <a:srgbClr val="F8F9FA"/>
          </a:solidFill>
          <a:ln/>
        </p:spPr>
      </p:sp>
      <p:sp>
        <p:nvSpPr>
          <p:cNvPr id="33" name="Text 30"/>
          <p:cNvSpPr/>
          <p:nvPr/>
        </p:nvSpPr>
        <p:spPr>
          <a:xfrm>
            <a:off x="6482953" y="2851472"/>
            <a:ext cx="1418034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Plus Jakarta Sans" pitchFamily="34" charset="0"/>
              </a:rPr>
              <a:t>👥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482953" y="3214353"/>
            <a:ext cx="141803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General Public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482953" y="3362920"/>
            <a:ext cx="141803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Awareness &amp; safety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1128713" y="3745781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8713" y="3745781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8" name="Text 35"/>
          <p:cNvSpPr/>
          <p:nvPr/>
        </p:nvSpPr>
        <p:spPr>
          <a:xfrm>
            <a:off x="1278731" y="3845793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1278731" y="4014341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Connect technical work to real-world impact. Ask "Who cares about air quality data?" then answer with stakeholders. The predictive capability moves from descriptive to predictive analytics.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7982024" y="4451449"/>
            <a:ext cx="204713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5 / 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605335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Dataset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605335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Source: WAQI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The WAQI COVID-19 Air Quality Data Archive aggregates observations from thousands of government and research monitoring stations worldwide.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1128713" y="1680009"/>
            <a:ext cx="3343275" cy="577081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1"/>
                </a:lnTo>
                <a:lnTo>
                  <a:pt x="21315" y="204"/>
                </a:lnTo>
                <a:lnTo>
                  <a:pt x="21395" y="451"/>
                </a:lnTo>
                <a:lnTo>
                  <a:pt x="21465" y="783"/>
                </a:lnTo>
                <a:lnTo>
                  <a:pt x="21522" y="1188"/>
                </a:lnTo>
                <a:lnTo>
                  <a:pt x="21565" y="1651"/>
                </a:lnTo>
                <a:lnTo>
                  <a:pt x="21591" y="2152"/>
                </a:lnTo>
                <a:lnTo>
                  <a:pt x="21600" y="2674"/>
                </a:lnTo>
                <a:lnTo>
                  <a:pt x="21600" y="18926"/>
                </a:lnTo>
                <a:lnTo>
                  <a:pt x="21591" y="19448"/>
                </a:lnTo>
                <a:lnTo>
                  <a:pt x="21565" y="19949"/>
                </a:lnTo>
                <a:lnTo>
                  <a:pt x="21522" y="20412"/>
                </a:lnTo>
                <a:lnTo>
                  <a:pt x="21465" y="20817"/>
                </a:lnTo>
                <a:lnTo>
                  <a:pt x="21395" y="21149"/>
                </a:lnTo>
                <a:lnTo>
                  <a:pt x="21315" y="21396"/>
                </a:lnTo>
                <a:lnTo>
                  <a:pt x="21229" y="21549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0" name="Shape 7"/>
          <p:cNvSpPr/>
          <p:nvPr/>
        </p:nvSpPr>
        <p:spPr>
          <a:xfrm>
            <a:off x="1128713" y="1680009"/>
            <a:ext cx="28575" cy="577081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1" name="Text 8"/>
          <p:cNvSpPr/>
          <p:nvPr/>
        </p:nvSpPr>
        <p:spPr>
          <a:xfrm>
            <a:off x="1271588" y="1794309"/>
            <a:ext cx="308610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Coverage Period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271588" y="1959955"/>
            <a:ext cx="30861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1 Oct — 31 Dec 2023 (92 days)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8713" y="2357103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Raw Format Challenge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8713" y="2608473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Long-format CSV: one row per city, date, and species. Each record includes summary statistics (min, max, median, variance, count).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72013" y="818629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64881" y="968648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980B9"/>
                </a:solidFill>
                <a:latin typeface="Plus Jakarta Sans" pitchFamily="34" charset="0"/>
              </a:rPr>
              <a:t>46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764881" y="1240110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Countries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6379369" y="818629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2238" y="968648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Plus Jakarta Sans" pitchFamily="34" charset="0"/>
              </a:rPr>
              <a:t>238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72238" y="1240110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Cities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4672013" y="1598637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64881" y="1748656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9C12"/>
                </a:solidFill>
                <a:latin typeface="Plus Jakarta Sans" pitchFamily="34" charset="0"/>
              </a:rPr>
              <a:t>21,238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764881" y="2020119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Fact Records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6379369" y="1598637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72238" y="1748656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10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472238" y="2020119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Measures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672013" y="2407221"/>
            <a:ext cx="3343275" cy="809923"/>
          </a:xfrm>
          <a:prstGeom prst="roundRect">
            <a:avLst>
              <a:gd name="adj" fmla="val 7056"/>
            </a:avLst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4772025" y="2507233"/>
            <a:ext cx="31432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Key Measures</a:t>
            </a:r>
            <a:endParaRPr lang="en-US" sz="600" dirty="0"/>
          </a:p>
        </p:txBody>
      </p:sp>
      <p:sp>
        <p:nvSpPr>
          <p:cNvPr id="29" name="Shape 26"/>
          <p:cNvSpPr/>
          <p:nvPr/>
        </p:nvSpPr>
        <p:spPr>
          <a:xfrm>
            <a:off x="4786313" y="2701454"/>
            <a:ext cx="627980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0" name="Text 27"/>
          <p:cNvSpPr/>
          <p:nvPr/>
        </p:nvSpPr>
        <p:spPr>
          <a:xfrm>
            <a:off x="4786313" y="2701454"/>
            <a:ext cx="627980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Temperature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5478587" y="2701454"/>
            <a:ext cx="473497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2" name="Text 29"/>
          <p:cNvSpPr/>
          <p:nvPr/>
        </p:nvSpPr>
        <p:spPr>
          <a:xfrm>
            <a:off x="5478587" y="2701454"/>
            <a:ext cx="473497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Pressure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6016377" y="2701454"/>
            <a:ext cx="486556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4" name="Text 31"/>
          <p:cNvSpPr/>
          <p:nvPr/>
        </p:nvSpPr>
        <p:spPr>
          <a:xfrm>
            <a:off x="6016377" y="2701454"/>
            <a:ext cx="486556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Humidity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6567227" y="2701454"/>
            <a:ext cx="316557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6" name="Text 33"/>
          <p:cNvSpPr/>
          <p:nvPr/>
        </p:nvSpPr>
        <p:spPr>
          <a:xfrm>
            <a:off x="6567227" y="2701454"/>
            <a:ext cx="316557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Dew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6948078" y="2701454"/>
            <a:ext cx="535781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38" name="Text 35"/>
          <p:cNvSpPr/>
          <p:nvPr/>
        </p:nvSpPr>
        <p:spPr>
          <a:xfrm>
            <a:off x="6948078" y="2701454"/>
            <a:ext cx="535781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Wind Gust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7548153" y="2701454"/>
            <a:ext cx="273807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40" name="Text 37"/>
          <p:cNvSpPr/>
          <p:nvPr/>
        </p:nvSpPr>
        <p:spPr>
          <a:xfrm>
            <a:off x="7548153" y="2701454"/>
            <a:ext cx="273807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UVI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4786313" y="2934295"/>
            <a:ext cx="384981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42" name="Text 39"/>
          <p:cNvSpPr/>
          <p:nvPr/>
        </p:nvSpPr>
        <p:spPr>
          <a:xfrm>
            <a:off x="4786313" y="2934295"/>
            <a:ext cx="384981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PM2.5</a:t>
            </a:r>
            <a:endParaRPr lang="en-US" sz="600" dirty="0"/>
          </a:p>
        </p:txBody>
      </p:sp>
      <p:sp>
        <p:nvSpPr>
          <p:cNvPr id="43" name="Shape 40"/>
          <p:cNvSpPr/>
          <p:nvPr/>
        </p:nvSpPr>
        <p:spPr>
          <a:xfrm>
            <a:off x="5235587" y="2934295"/>
            <a:ext cx="349486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44" name="Text 41"/>
          <p:cNvSpPr/>
          <p:nvPr/>
        </p:nvSpPr>
        <p:spPr>
          <a:xfrm>
            <a:off x="5235587" y="2934295"/>
            <a:ext cx="349486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PM10</a:t>
            </a:r>
            <a:endParaRPr lang="en-US" sz="600" dirty="0"/>
          </a:p>
        </p:txBody>
      </p:sp>
      <p:sp>
        <p:nvSpPr>
          <p:cNvPr id="45" name="Shape 42"/>
          <p:cNvSpPr/>
          <p:nvPr/>
        </p:nvSpPr>
        <p:spPr>
          <a:xfrm>
            <a:off x="5649367" y="2934295"/>
            <a:ext cx="317004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46" name="Text 43"/>
          <p:cNvSpPr/>
          <p:nvPr/>
        </p:nvSpPr>
        <p:spPr>
          <a:xfrm>
            <a:off x="5649367" y="2934295"/>
            <a:ext cx="317004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NO2</a:t>
            </a:r>
            <a:endParaRPr lang="en-US" sz="600" dirty="0"/>
          </a:p>
        </p:txBody>
      </p:sp>
      <p:sp>
        <p:nvSpPr>
          <p:cNvPr id="47" name="Shape 44"/>
          <p:cNvSpPr/>
          <p:nvPr/>
        </p:nvSpPr>
        <p:spPr>
          <a:xfrm>
            <a:off x="6030664" y="2934295"/>
            <a:ext cx="464567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48" name="Text 45"/>
          <p:cNvSpPr/>
          <p:nvPr/>
        </p:nvSpPr>
        <p:spPr>
          <a:xfrm>
            <a:off x="6030664" y="2934295"/>
            <a:ext cx="464567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SO2/O3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1128713" y="3360018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50" name="Shape 47"/>
          <p:cNvSpPr/>
          <p:nvPr/>
        </p:nvSpPr>
        <p:spPr>
          <a:xfrm>
            <a:off x="1128713" y="3360018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51" name="Text 48"/>
          <p:cNvSpPr/>
          <p:nvPr/>
        </p:nvSpPr>
        <p:spPr>
          <a:xfrm>
            <a:off x="1278731" y="3460031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1278731" y="3628579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Explain dataset scale. 21,238 fact records came from much larger raw data. The long-format challenge is important — each city/date has multiple rows that must be pivoted to wide format.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7983475" y="4189140"/>
            <a:ext cx="2032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6 / 24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93206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Medallion Architecture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93206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Three-layer pattern: raw ingestion → cleaning &amp; validation → analytics-ready modeling.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31503"/>
            <a:ext cx="2028825" cy="1610023"/>
          </a:xfrm>
          <a:prstGeom prst="roundRect">
            <a:avLst>
              <a:gd name="adj" fmla="val 4437"/>
            </a:avLst>
          </a:prstGeom>
          <a:gradFill>
            <a:gsLst>
              <a:gs pos="0">
                <a:srgbClr val="FDF6ED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CD7F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5875" y="1288666"/>
            <a:ext cx="171450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CD7F32"/>
                </a:solidFill>
                <a:latin typeface="Plus Jakarta Sans" pitchFamily="34" charset="0"/>
              </a:rPr>
              <a:t>BRONZE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285875" y="1457213"/>
            <a:ext cx="17145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Raw Ingestion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28750" y="1697199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Load raw WAQI CSV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428750" y="1902916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Preserve original structure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428750" y="2108634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Add ingestion metadata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428750" y="2314352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Schema-on-read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271838" y="1131503"/>
            <a:ext cx="171450" cy="1610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Plus Jakarta Sans" pitchFamily="34" charset="0"/>
              </a:rPr>
              <a:t>→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557588" y="1131503"/>
            <a:ext cx="2028825" cy="1610023"/>
          </a:xfrm>
          <a:prstGeom prst="roundRect">
            <a:avLst>
              <a:gd name="adj" fmla="val 4437"/>
            </a:avLst>
          </a:prstGeom>
          <a:gradFill>
            <a:gsLst>
              <a:gs pos="0">
                <a:srgbClr val="F5F5F5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14750" y="1288666"/>
            <a:ext cx="171450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SILVER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714750" y="1457213"/>
            <a:ext cx="17145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Cleaned &amp; Transformed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57625" y="1697199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Remove duplicates &amp; invalids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857625" y="1902916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Standardize units &amp; names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857625" y="2108634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Calculate composite AQI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857625" y="2314352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Time-intelligence enrichment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700713" y="1131503"/>
            <a:ext cx="171450" cy="1610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Plus Jakarta Sans" pitchFamily="34" charset="0"/>
              </a:rPr>
              <a:t>→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86463" y="1131503"/>
            <a:ext cx="2028825" cy="1610023"/>
          </a:xfrm>
          <a:prstGeom prst="roundRect">
            <a:avLst>
              <a:gd name="adj" fmla="val 4437"/>
            </a:avLst>
          </a:prstGeom>
          <a:gradFill>
            <a:gsLst>
              <a:gs pos="0">
                <a:srgbClr val="FFFDF0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C9A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43625" y="1288666"/>
            <a:ext cx="171450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C9A000"/>
                </a:solidFill>
                <a:latin typeface="Plus Jakarta Sans" pitchFamily="34" charset="0"/>
              </a:rPr>
              <a:t>GOLD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143625" y="1457213"/>
            <a:ext cx="17145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Star Schema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86500" y="1697199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Fact &amp; dimension tables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286500" y="1902916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Surrogate keys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286500" y="2108634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Optimized for Power BI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286500" y="2314352"/>
            <a:ext cx="1571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Query-ready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1128713" y="2884401"/>
            <a:ext cx="6886575" cy="568598"/>
          </a:xfrm>
          <a:custGeom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32" name="Shape 29"/>
          <p:cNvSpPr/>
          <p:nvPr/>
        </p:nvSpPr>
        <p:spPr>
          <a:xfrm>
            <a:off x="1128713" y="2884401"/>
            <a:ext cx="28575" cy="568598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33" name="Text 30"/>
          <p:cNvSpPr/>
          <p:nvPr/>
        </p:nvSpPr>
        <p:spPr>
          <a:xfrm>
            <a:off x="1271588" y="2998701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Why Medallion?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Every transformation is traceable. Quality rules enforced once, centrally. The dashboard reflects a governed, reproducible dataset.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1128713" y="3595874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5" name="Shape 32"/>
          <p:cNvSpPr/>
          <p:nvPr/>
        </p:nvSpPr>
        <p:spPr>
          <a:xfrm>
            <a:off x="1128713" y="3595874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6" name="Text 33"/>
          <p:cNvSpPr/>
          <p:nvPr/>
        </p:nvSpPr>
        <p:spPr>
          <a:xfrm>
            <a:off x="1278731" y="3695886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1278731" y="3864434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This is a core architectural decision. Medallion is industry-standard. Key benefit: separation of concerns — each layer has one job.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7987717" y="4189140"/>
            <a:ext cx="19902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7 / 24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655689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Bronze Layer — Raw Ingestion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655689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Purpose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Preserves an untouched, auditable copy of WAQI source data. No transformations — only metadata tagging.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8713" y="1481435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Key Operations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1588" y="173280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Load raw CSV with all columns as strings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93852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Append ingestion timestamp in UTC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14424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Tag with source filename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1588" y="234995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Print execution summary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128713" y="2619970"/>
            <a:ext cx="3343275" cy="568598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2"/>
                </a:lnTo>
                <a:lnTo>
                  <a:pt x="21315" y="207"/>
                </a:lnTo>
                <a:lnTo>
                  <a:pt x="21395" y="457"/>
                </a:lnTo>
                <a:lnTo>
                  <a:pt x="21465" y="795"/>
                </a:lnTo>
                <a:lnTo>
                  <a:pt x="21522" y="1206"/>
                </a:lnTo>
                <a:lnTo>
                  <a:pt x="21565" y="1675"/>
                </a:lnTo>
                <a:lnTo>
                  <a:pt x="21591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1" y="19416"/>
                </a:lnTo>
                <a:lnTo>
                  <a:pt x="21565" y="19925"/>
                </a:lnTo>
                <a:lnTo>
                  <a:pt x="21522" y="20394"/>
                </a:lnTo>
                <a:lnTo>
                  <a:pt x="21465" y="20805"/>
                </a:lnTo>
                <a:lnTo>
                  <a:pt x="21395" y="21143"/>
                </a:lnTo>
                <a:lnTo>
                  <a:pt x="21315" y="21393"/>
                </a:lnTo>
                <a:lnTo>
                  <a:pt x="21229" y="21548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28713" y="2619970"/>
            <a:ext cx="28575" cy="568598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6" name="Text 13"/>
          <p:cNvSpPr/>
          <p:nvPr/>
        </p:nvSpPr>
        <p:spPr>
          <a:xfrm>
            <a:off x="1271588" y="2734270"/>
            <a:ext cx="30861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Philosophy: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Bronze is the "system of record." Trace back and re-run deterministically if needed.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672013" y="818629"/>
            <a:ext cx="3343275" cy="1562249"/>
          </a:xfrm>
          <a:prstGeom prst="roundRect">
            <a:avLst>
              <a:gd name="adj" fmla="val 3658"/>
            </a:avLst>
          </a:prstGeom>
          <a:solidFill>
            <a:srgbClr val="1E1E1E"/>
          </a:solidFill>
          <a:ln/>
        </p:spPr>
      </p:sp>
      <p:sp>
        <p:nvSpPr>
          <p:cNvPr id="18" name="Text 15"/>
          <p:cNvSpPr/>
          <p:nvPr/>
        </p:nvSpPr>
        <p:spPr>
          <a:xfrm>
            <a:off x="4786313" y="932929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</a:rPr>
              <a:t># Bronze Layer — Raw Ingestion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786313" y="1112862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569CD6"/>
                </a:solidFill>
                <a:latin typeface="Consolas" pitchFamily="34" charset="0"/>
              </a:rPr>
              <a:t>def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 </a:t>
            </a:r>
            <a:r>
              <a:rPr lang="en-US" sz="600" dirty="0">
                <a:solidFill>
                  <a:srgbClr val="DCDCAA"/>
                </a:solidFill>
                <a:latin typeface="Consolas" pitchFamily="34" charset="0"/>
              </a:rPr>
              <a:t>load_raw_data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(filepath):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786313" y="1249933"/>
            <a:ext cx="3114675" cy="137071"/>
          </a:xfrm>
          <a:prstGeom prst="rect">
            <a:avLst/>
          </a:prstGeom>
          <a:noFill/>
          <a:ln/>
        </p:spPr>
        <p:txBody>
          <a:bodyPr wrap="none" lIns="117856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df = pd.read_csv(filepath,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786313" y="1387004"/>
            <a:ext cx="3114675" cy="137071"/>
          </a:xfrm>
          <a:prstGeom prst="rect">
            <a:avLst/>
          </a:prstGeom>
          <a:noFill/>
          <a:ln/>
        </p:spPr>
        <p:txBody>
          <a:bodyPr wrap="none" lIns="235712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dtype=str,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786313" y="1524074"/>
            <a:ext cx="3114675" cy="137071"/>
          </a:xfrm>
          <a:prstGeom prst="rect">
            <a:avLst/>
          </a:prstGeom>
          <a:noFill/>
          <a:ln/>
        </p:spPr>
        <p:txBody>
          <a:bodyPr wrap="none" lIns="235712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keep_default_na=False)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786313" y="1661145"/>
            <a:ext cx="3114675" cy="137071"/>
          </a:xfrm>
          <a:prstGeom prst="rect">
            <a:avLst/>
          </a:prstGeom>
          <a:noFill/>
          <a:ln/>
        </p:spPr>
        <p:txBody>
          <a:bodyPr wrap="none" lIns="117856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586C0"/>
                </a:solidFill>
                <a:latin typeface="Consolas" pitchFamily="34" charset="0"/>
              </a:rPr>
              <a:t>return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 df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786313" y="1855366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6A9955"/>
                </a:solidFill>
                <a:latin typeface="Consolas" pitchFamily="34" charset="0"/>
              </a:rPr>
              <a:t># Add audit metadata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786313" y="1992437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df[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"ingestion_date"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] = datetime.utcnow()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786313" y="2129507"/>
            <a:ext cx="31146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df[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"source_file"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] = filename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672013" y="2480890"/>
            <a:ext cx="3343275" cy="939738"/>
          </a:xfrm>
          <a:prstGeom prst="roundRect">
            <a:avLst>
              <a:gd name="adj" fmla="val 6081"/>
            </a:avLst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4772025" y="2580903"/>
            <a:ext cx="31432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16213E"/>
                </a:solidFill>
                <a:latin typeface="Plus Jakarta Sans" pitchFamily="34" charset="0"/>
              </a:rPr>
              <a:t>Audit Trail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772025" y="2786621"/>
            <a:ext cx="3143250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onsolas" pitchFamily="34" charset="0"/>
              </a:rPr>
              <a:t>ingestion_date: 2023-10-01 00:00:00 UTC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772025" y="2920119"/>
            <a:ext cx="3143250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onsolas" pitchFamily="34" charset="0"/>
              </a:rPr>
              <a:t>source_file: waqi_q4_2023.csv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4772025" y="3053618"/>
            <a:ext cx="3143250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onsolas" pitchFamily="34" charset="0"/>
              </a:rPr>
              <a:t>total_records: ~45,000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772025" y="3187117"/>
            <a:ext cx="3143250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onsolas" pitchFamily="34" charset="0"/>
              </a:rPr>
              <a:t>total_columns: 12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1128713" y="3563503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8713" y="3563503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5" name="Text 32"/>
          <p:cNvSpPr/>
          <p:nvPr/>
        </p:nvSpPr>
        <p:spPr>
          <a:xfrm>
            <a:off x="1278731" y="3663516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1278731" y="3832064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Show code briefly. Loading as strings prevents type coercion errors. Audit trail is critical for data governance.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981020" y="4189140"/>
            <a:ext cx="20571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8 / 24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782977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61652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Silver Layer — Cleaning &amp; Transformation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61652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The most substantial pipeline stage. Structured cleaning, validation, and feature engineering.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02928"/>
            <a:ext cx="3393281" cy="1587140"/>
          </a:xfrm>
          <a:prstGeom prst="roundRect">
            <a:avLst>
              <a:gd name="adj" fmla="val 450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50156" y="1224372"/>
            <a:ext cx="3150394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Standardization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93031" y="1475742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Column names → snake_case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393031" y="1681460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Country codes → uppercase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393031" y="1887178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City names → title case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393031" y="2092896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Species names → lowercase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393031" y="2298613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Unify wind-gust variants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22006" y="1102928"/>
            <a:ext cx="3393281" cy="1587140"/>
          </a:xfrm>
          <a:prstGeom prst="roundRect">
            <a:avLst>
              <a:gd name="adj" fmla="val 450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43450" y="1224372"/>
            <a:ext cx="3150394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Validation Rules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86325" y="1475742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Drop rows where min &gt; max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86325" y="1681460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Remove negative readings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86325" y="1887178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Discard count &lt; 1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86325" y="2092896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Enforce Q4 2023 date range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128713" y="2790081"/>
            <a:ext cx="3393281" cy="1381423"/>
          </a:xfrm>
          <a:prstGeom prst="roundRect">
            <a:avLst>
              <a:gd name="adj" fmla="val 517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50156" y="2911525"/>
            <a:ext cx="3150394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Feature Engineering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393031" y="3162895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Pivot long → wide format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393031" y="3368613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Forward/backward fill gaps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393031" y="3574331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Calculate composite AQI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393031" y="3780048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Classify: Safe/Polluted/Hazardous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622006" y="2790081"/>
            <a:ext cx="3393281" cy="1381423"/>
          </a:xfrm>
          <a:prstGeom prst="roundRect">
            <a:avLst>
              <a:gd name="adj" fmla="val 517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43450" y="2911525"/>
            <a:ext cx="3150394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Time Intelligence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86325" y="3162895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is_weekday flag (0/1)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886325" y="3368613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Month name extraction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886325" y="3574331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Season classification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886325" y="3780048"/>
            <a:ext cx="3007519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Day/week of year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1128713" y="4271516"/>
            <a:ext cx="6886575" cy="568598"/>
          </a:xfrm>
          <a:custGeom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0F3"/>
          </a:solidFill>
          <a:ln/>
        </p:spPr>
      </p:sp>
      <p:sp>
        <p:nvSpPr>
          <p:cNvPr id="34" name="Shape 31"/>
          <p:cNvSpPr/>
          <p:nvPr/>
        </p:nvSpPr>
        <p:spPr>
          <a:xfrm>
            <a:off x="1128713" y="4271516"/>
            <a:ext cx="28575" cy="568598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5" name="Text 32"/>
          <p:cNvSpPr/>
          <p:nvPr/>
        </p:nvSpPr>
        <p:spPr>
          <a:xfrm>
            <a:off x="1271588" y="4385816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AQI Formula: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Mean of four normalized sub-indices — PM2.5/15, PM10/45, NO2/25, SO2/40, O3/100. Thresholds: ≤1.0 Safe, 1.0–2.0 Polluted, ≥2.0 Hazardous.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1128713" y="4982989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8713" y="4982989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8" name="Text 35"/>
          <p:cNvSpPr/>
          <p:nvPr/>
        </p:nvSpPr>
        <p:spPr>
          <a:xfrm>
            <a:off x="1278731" y="5083001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1278731" y="5251549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Silver layer is where the magic happens. Highlight wind-gust unification as a real data quality issue. AQI formula is a composite index, not one pollutant.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7983475" y="5542992"/>
            <a:ext cx="2032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9 / 24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71565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83015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Gold Layer — Star Schema Build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83015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Restructures cleaned data into a star schema optimized for fast Power BI querying.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02928"/>
            <a:ext cx="1735931" cy="1097012"/>
          </a:xfrm>
          <a:prstGeom prst="roundRect">
            <a:avLst>
              <a:gd name="adj" fmla="val 6512"/>
            </a:avLst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71588" y="1245803"/>
            <a:ext cx="1450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2980B9"/>
                </a:solidFill>
                <a:latin typeface="Plus Jakarta Sans" pitchFamily="34" charset="0"/>
              </a:rPr>
              <a:t>dim_location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271588" y="1474403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PK: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location_key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271588" y="1620069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Cols: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country, city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271588" y="1765734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Rows: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238 cities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271588" y="1911400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Countries: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46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2978944" y="1102928"/>
            <a:ext cx="1735931" cy="1242678"/>
          </a:xfrm>
          <a:prstGeom prst="roundRect">
            <a:avLst>
              <a:gd name="adj" fmla="val 5749"/>
            </a:avLst>
          </a:prstGeom>
          <a:gradFill>
            <a:gsLst>
              <a:gs pos="0">
                <a:srgbClr val="E8F5E9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1819" y="1245803"/>
            <a:ext cx="1450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27AE60"/>
                </a:solidFill>
                <a:latin typeface="Plus Jakarta Sans" pitchFamily="34" charset="0"/>
              </a:rPr>
              <a:t>dim_date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121819" y="1474403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PK: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date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3121819" y="1620069"/>
            <a:ext cx="1450181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Cols: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year, month, day, is_weekday, season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121819" y="1911400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Rows: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92 dates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121819" y="2057065"/>
            <a:ext cx="1450181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Seasons: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Autumn, Winter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4829175" y="1102928"/>
            <a:ext cx="3186113" cy="1242678"/>
          </a:xfrm>
          <a:prstGeom prst="roundRect">
            <a:avLst>
              <a:gd name="adj" fmla="val 5749"/>
            </a:avLst>
          </a:prstGeom>
          <a:gradFill>
            <a:gsLst>
              <a:gs pos="0">
                <a:srgbClr val="FFF8E1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72050" y="1245803"/>
            <a:ext cx="2900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E65100"/>
                </a:solidFill>
                <a:latin typeface="Plus Jakarta Sans" pitchFamily="34" charset="0"/>
              </a:rPr>
              <a:t>fact_airquality_weather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972050" y="1474403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PK: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fact_key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972050" y="1620069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FKs: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date → dim_date, location_key → dim_location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972050" y="1765734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Measures: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temp, pressure, humidity, dew, precip, wind gust, uvi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972050" y="1911400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AQI: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value, label, sort_order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972050" y="2057065"/>
            <a:ext cx="2900363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b="1" dirty="0">
                <a:solidFill>
                  <a:srgbClr val="555555"/>
                </a:solidFill>
                <a:latin typeface="Plus Jakarta Sans" pitchFamily="34" charset="0"/>
              </a:rPr>
              <a:t>Rows:</a:t>
            </a:r>
            <a:r>
              <a:rPr lang="en-US" sz="600" dirty="0">
                <a:solidFill>
                  <a:srgbClr val="555555"/>
                </a:solidFill>
                <a:latin typeface="Plus Jakarta Sans" pitchFamily="34" charset="0"/>
              </a:rPr>
              <a:t> 21,238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1128713" y="2474193"/>
            <a:ext cx="6886575" cy="1152934"/>
          </a:xfrm>
          <a:prstGeom prst="roundRect">
            <a:avLst>
              <a:gd name="adj" fmla="val 6196"/>
            </a:avLst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1243013" y="2588493"/>
            <a:ext cx="6657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16213E"/>
                </a:solidFill>
                <a:latin typeface="Plus Jakarta Sans" pitchFamily="34" charset="0"/>
              </a:rPr>
              <a:t>Why Star Schema?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85888" y="2831381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Minimizes joins per visual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385888" y="3037098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Keeps DAX measures simple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385888" y="3242816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Optimized for VertiPaq engine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814888" y="2831381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Wide fact, small dimensions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14888" y="3037098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Surrogate keys prevent issues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814888" y="3242816"/>
            <a:ext cx="30861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Industry best practice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128713" y="3770002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36" name="Shape 33"/>
          <p:cNvSpPr/>
          <p:nvPr/>
        </p:nvSpPr>
        <p:spPr>
          <a:xfrm>
            <a:off x="1128713" y="3770002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7" name="Text 34"/>
          <p:cNvSpPr/>
          <p:nvPr/>
        </p:nvSpPr>
        <p:spPr>
          <a:xfrm>
            <a:off x="1278731" y="3870015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1278731" y="4038563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Gold layer is the product consumers see. Explain surrogate keys — city names can change or have duplicates. Star schema is designed for Power BI's columnar storage.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7943738" y="4475671"/>
            <a:ext cx="24299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10 / 24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138700"/>
          </a:xfrm>
          <a:prstGeom prst="roundRect">
            <a:avLst>
              <a:gd name="adj" fmla="val 2224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990762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Data Quality Summary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990762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961504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1581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980B9"/>
                </a:solidFill>
                <a:latin typeface="Plus Jakarta Sans" pitchFamily="34" charset="0"/>
              </a:rPr>
              <a:t>21,238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1581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Total fact rows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878931" y="961504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Plus Jakarta Sans" pitchFamily="34" charset="0"/>
              </a:rPr>
              <a:t>91.9%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71800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Valid AQI rows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629150" y="961504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2019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9C12"/>
                </a:solidFill>
                <a:latin typeface="Plus Jakarta Sans" pitchFamily="34" charset="0"/>
              </a:rPr>
              <a:t>94.8%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22019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Valid UVI rows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6379369" y="961504"/>
            <a:ext cx="1635919" cy="708571"/>
          </a:xfrm>
          <a:prstGeom prst="roundRect">
            <a:avLst>
              <a:gd name="adj" fmla="val 10082"/>
            </a:avLst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2238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0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72238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Duplicate rows</a:t>
            </a:r>
            <a:endParaRPr lang="en-US" sz="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28713" y="1812950"/>
          <a:ext cx="6886575" cy="1884276"/>
        </p:xfrm>
        <a:graphic>
          <a:graphicData uri="http://schemas.openxmlformats.org/drawingml/2006/table">
            <a:tbl>
              <a:tblPr/>
              <a:tblGrid>
                <a:gridCol w="1932384"/>
                <a:gridCol w="1589708"/>
                <a:gridCol w="805681"/>
                <a:gridCol w="2558802"/>
              </a:tblGrid>
              <a:tr h="2914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Quality Metric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Value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Status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Note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314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Duplicate rows removed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Handled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Silver drop_duplicates()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5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Invalid records removed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Handled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Min&gt;max, negatives, bad variance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5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Date range enforced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 Oct – 31 Dec 2023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Pass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Out-of-range excluded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5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Unknown AQI labels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1,720 (8.1%)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Info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Missing pollutant species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56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Missing UVI readings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1,107 (5.2%)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Info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UVI for city/date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1128713" y="3797238"/>
            <a:ext cx="6886575" cy="398599"/>
          </a:xfrm>
          <a:custGeom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74"/>
                </a:lnTo>
                <a:lnTo>
                  <a:pt x="21462" y="295"/>
                </a:lnTo>
                <a:lnTo>
                  <a:pt x="21500" y="652"/>
                </a:lnTo>
                <a:lnTo>
                  <a:pt x="21534" y="1134"/>
                </a:lnTo>
                <a:lnTo>
                  <a:pt x="21562" y="1720"/>
                </a:lnTo>
                <a:lnTo>
                  <a:pt x="21583" y="2390"/>
                </a:lnTo>
                <a:lnTo>
                  <a:pt x="21596" y="3116"/>
                </a:lnTo>
                <a:lnTo>
                  <a:pt x="21600" y="3871"/>
                </a:lnTo>
                <a:lnTo>
                  <a:pt x="21600" y="17729"/>
                </a:lnTo>
                <a:lnTo>
                  <a:pt x="21596" y="18484"/>
                </a:lnTo>
                <a:lnTo>
                  <a:pt x="21583" y="19210"/>
                </a:lnTo>
                <a:lnTo>
                  <a:pt x="21562" y="19880"/>
                </a:lnTo>
                <a:lnTo>
                  <a:pt x="21534" y="20466"/>
                </a:lnTo>
                <a:lnTo>
                  <a:pt x="21500" y="20948"/>
                </a:lnTo>
                <a:lnTo>
                  <a:pt x="21462" y="21305"/>
                </a:lnTo>
                <a:lnTo>
                  <a:pt x="21420" y="21526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21" name="Shape 17"/>
          <p:cNvSpPr/>
          <p:nvPr/>
        </p:nvSpPr>
        <p:spPr>
          <a:xfrm>
            <a:off x="1128713" y="3797238"/>
            <a:ext cx="28575" cy="398599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2" name="Text 18"/>
          <p:cNvSpPr/>
          <p:nvPr/>
        </p:nvSpPr>
        <p:spPr>
          <a:xfrm>
            <a:off x="1271588" y="3911538"/>
            <a:ext cx="6629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Note: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8.1% "Unknown" reflects incomplete pollutant species. Retained for weather analysis but excluded from AQI rankings.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1128713" y="4338712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4" name="Shape 20"/>
          <p:cNvSpPr/>
          <p:nvPr/>
        </p:nvSpPr>
        <p:spPr>
          <a:xfrm>
            <a:off x="1128713" y="4338712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5" name="Text 21"/>
          <p:cNvSpPr/>
          <p:nvPr/>
        </p:nvSpPr>
        <p:spPr>
          <a:xfrm>
            <a:off x="1278731" y="4438724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1278731" y="4607272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Data quality is about documenting what was removed and why. 8.1% Unknown is transparency, not failure. These records still have valid weather data.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7972090" y="4898715"/>
            <a:ext cx="214647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11 / 24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71206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676326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AI Model Overview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67632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Objective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Predict AQI using weather conditions and temporal features. Enables forecasting and anomaly detection.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128713" y="1481435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Model Pipeline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71588" y="173280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Load Silver-layer data (21,238 × 18)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93852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Feature engineering &amp; encoding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14424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Train-test split (80/20)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71588" y="234995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Algorithm comparison (8 models)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271588" y="2555677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Hyperparameter tuning (RandomizedSearchCV)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271588" y="276139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Final evaluation &amp; SHAP explainability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672013" y="818629"/>
            <a:ext cx="3343275" cy="1762720"/>
          </a:xfrm>
          <a:prstGeom prst="roundRect">
            <a:avLst>
              <a:gd name="adj" fmla="val 405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7744" y="954360"/>
            <a:ext cx="3071813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Input Features (15)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22031" y="1234306"/>
            <a:ext cx="438894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19" name="Text 16"/>
          <p:cNvSpPr/>
          <p:nvPr/>
        </p:nvSpPr>
        <p:spPr>
          <a:xfrm>
            <a:off x="4822031" y="1234306"/>
            <a:ext cx="438894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country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5325219" y="1234306"/>
            <a:ext cx="286308" cy="168548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21" name="Text 18"/>
          <p:cNvSpPr/>
          <p:nvPr/>
        </p:nvSpPr>
        <p:spPr>
          <a:xfrm>
            <a:off x="5325219" y="1234306"/>
            <a:ext cx="286308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1565C0"/>
                </a:solidFill>
                <a:latin typeface="Plus Jakarta Sans" pitchFamily="34" charset="0"/>
              </a:rPr>
              <a:t>city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5675821" y="1234306"/>
            <a:ext cx="622734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3" name="Text 20"/>
          <p:cNvSpPr/>
          <p:nvPr/>
        </p:nvSpPr>
        <p:spPr>
          <a:xfrm>
            <a:off x="5675821" y="1234306"/>
            <a:ext cx="622734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temperature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6362849" y="1234306"/>
            <a:ext cx="475283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5" name="Text 22"/>
          <p:cNvSpPr/>
          <p:nvPr/>
        </p:nvSpPr>
        <p:spPr>
          <a:xfrm>
            <a:off x="6362849" y="1234306"/>
            <a:ext cx="475283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pressure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6902425" y="1234306"/>
            <a:ext cx="474948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7" name="Text 24"/>
          <p:cNvSpPr/>
          <p:nvPr/>
        </p:nvSpPr>
        <p:spPr>
          <a:xfrm>
            <a:off x="6902425" y="1234306"/>
            <a:ext cx="474948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humidity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7441667" y="1234306"/>
            <a:ext cx="310976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9" name="Text 26"/>
          <p:cNvSpPr/>
          <p:nvPr/>
        </p:nvSpPr>
        <p:spPr>
          <a:xfrm>
            <a:off x="7441667" y="1234306"/>
            <a:ext cx="310976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dew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4822031" y="1467148"/>
            <a:ext cx="511448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31" name="Text 28"/>
          <p:cNvSpPr/>
          <p:nvPr/>
        </p:nvSpPr>
        <p:spPr>
          <a:xfrm>
            <a:off x="4822031" y="1467148"/>
            <a:ext cx="511448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wind gust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397773" y="1467148"/>
            <a:ext cx="251482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33" name="Text 30"/>
          <p:cNvSpPr/>
          <p:nvPr/>
        </p:nvSpPr>
        <p:spPr>
          <a:xfrm>
            <a:off x="5397773" y="1467148"/>
            <a:ext cx="251482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uvi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5713549" y="1467148"/>
            <a:ext cx="635459" cy="16854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35" name="Text 32"/>
          <p:cNvSpPr/>
          <p:nvPr/>
        </p:nvSpPr>
        <p:spPr>
          <a:xfrm>
            <a:off x="5713549" y="1467148"/>
            <a:ext cx="635459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2E7D32"/>
                </a:solidFill>
                <a:latin typeface="Plus Jakarta Sans" pitchFamily="34" charset="0"/>
              </a:rPr>
              <a:t>precipitation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6413302" y="1467148"/>
            <a:ext cx="602084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37" name="Text 34"/>
          <p:cNvSpPr/>
          <p:nvPr/>
        </p:nvSpPr>
        <p:spPr>
          <a:xfrm>
            <a:off x="6413302" y="1467148"/>
            <a:ext cx="602084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is_weekday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7079679" y="1467148"/>
            <a:ext cx="414003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39" name="Text 36"/>
          <p:cNvSpPr/>
          <p:nvPr/>
        </p:nvSpPr>
        <p:spPr>
          <a:xfrm>
            <a:off x="7079679" y="1467148"/>
            <a:ext cx="414003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season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4822031" y="1699989"/>
            <a:ext cx="633785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41" name="Text 38"/>
          <p:cNvSpPr/>
          <p:nvPr/>
        </p:nvSpPr>
        <p:spPr>
          <a:xfrm>
            <a:off x="4822031" y="1699989"/>
            <a:ext cx="633785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day_of_year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5520110" y="1699989"/>
            <a:ext cx="698302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43" name="Text 40"/>
          <p:cNvSpPr/>
          <p:nvPr/>
        </p:nvSpPr>
        <p:spPr>
          <a:xfrm>
            <a:off x="5520110" y="1699989"/>
            <a:ext cx="698302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week_of_year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6282705" y="1699989"/>
            <a:ext cx="390339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45" name="Text 42"/>
          <p:cNvSpPr/>
          <p:nvPr/>
        </p:nvSpPr>
        <p:spPr>
          <a:xfrm>
            <a:off x="6282705" y="1699989"/>
            <a:ext cx="390339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month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737338" y="1699989"/>
            <a:ext cx="675531" cy="168548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47" name="Text 44"/>
          <p:cNvSpPr/>
          <p:nvPr/>
        </p:nvSpPr>
        <p:spPr>
          <a:xfrm>
            <a:off x="6737338" y="1699989"/>
            <a:ext cx="675531" cy="168548"/>
          </a:xfrm>
          <a:prstGeom prst="rect">
            <a:avLst/>
          </a:prstGeom>
          <a:noFill/>
          <a:ln/>
        </p:spPr>
        <p:txBody>
          <a:bodyPr wrap="none" lIns="73660" tIns="22098" rIns="73660" bIns="2209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A1B9A"/>
                </a:solidFill>
                <a:latin typeface="Plus Jakarta Sans" pitchFamily="34" charset="0"/>
              </a:rPr>
              <a:t>day_of_week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4807744" y="1982837"/>
            <a:ext cx="3071813" cy="462781"/>
          </a:xfrm>
          <a:prstGeom prst="roundRect">
            <a:avLst>
              <a:gd name="adj" fmla="val 9262"/>
            </a:avLst>
          </a:prstGeom>
          <a:solidFill>
            <a:srgbClr val="F8F9FA"/>
          </a:solidFill>
          <a:ln/>
        </p:spPr>
      </p:sp>
      <p:sp>
        <p:nvSpPr>
          <p:cNvPr id="49" name="Text 46"/>
          <p:cNvSpPr/>
          <p:nvPr/>
        </p:nvSpPr>
        <p:spPr>
          <a:xfrm>
            <a:off x="4879181" y="2054275"/>
            <a:ext cx="292893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Target Variable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4879181" y="2191345"/>
            <a:ext cx="2928938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AQI (continuous)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672013" y="2681362"/>
            <a:ext cx="3343275" cy="701315"/>
          </a:xfrm>
          <a:prstGeom prst="roundRect">
            <a:avLst>
              <a:gd name="adj" fmla="val 8149"/>
            </a:avLst>
          </a:prstGeom>
          <a:gradFill>
            <a:gsLst>
              <a:gs pos="0">
                <a:srgbClr val="E8F5E9"/>
              </a:gs>
              <a:gs pos="100000">
                <a:srgbClr val="FFFFFF"/>
              </a:gs>
            </a:gsLst>
            <a:lin ang="2700000" scaled="1"/>
          </a:gradFill>
          <a:ln/>
        </p:spPr>
      </p:sp>
      <p:sp>
        <p:nvSpPr>
          <p:cNvPr id="52" name="Shape 49"/>
          <p:cNvSpPr/>
          <p:nvPr/>
        </p:nvSpPr>
        <p:spPr>
          <a:xfrm>
            <a:off x="4672013" y="2681362"/>
            <a:ext cx="21431" cy="701315"/>
          </a:xfrm>
          <a:custGeom>
            <a:pathLst>
              <a:path w="21600" h="21600">
                <a:moveTo>
                  <a:pt x="21600" y="386"/>
                </a:moveTo>
                <a:cubicBezTo>
                  <a:pt x="7947" y="720"/>
                  <a:pt x="0" y="1226"/>
                  <a:pt x="0" y="1760"/>
                </a:cubicBezTo>
                <a:lnTo>
                  <a:pt x="0" y="19840"/>
                </a:lnTo>
                <a:cubicBezTo>
                  <a:pt x="0" y="20374"/>
                  <a:pt x="7947" y="20880"/>
                  <a:pt x="21600" y="21214"/>
                </a:cubicBezTo>
                <a:lnTo>
                  <a:pt x="21600" y="20699"/>
                </a:lnTo>
                <a:cubicBezTo>
                  <a:pt x="21600" y="20490"/>
                  <a:pt x="21600" y="20174"/>
                  <a:pt x="21600" y="19840"/>
                </a:cubicBezTo>
                <a:lnTo>
                  <a:pt x="21600" y="1760"/>
                </a:lnTo>
                <a:cubicBezTo>
                  <a:pt x="21600" y="1426"/>
                  <a:pt x="21600" y="1110"/>
                  <a:pt x="21600" y="901"/>
                </a:cubicBezTo>
                <a:lnTo>
                  <a:pt x="21600" y="386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53" name="Text 50"/>
          <p:cNvSpPr/>
          <p:nvPr/>
        </p:nvSpPr>
        <p:spPr>
          <a:xfrm>
            <a:off x="4793456" y="2781374"/>
            <a:ext cx="3121819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Final Model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4793456" y="2918445"/>
            <a:ext cx="312181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Plus Jakarta Sans" pitchFamily="34" charset="0"/>
              </a:rPr>
              <a:t>LightGBM (Tuned)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793456" y="3145594"/>
            <a:ext cx="3121819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Plus Jakarta Sans" pitchFamily="34" charset="0"/>
              </a:rPr>
              <a:t>Best CV R² = 0.8770</a:t>
            </a:r>
            <a:endParaRPr lang="en-US" sz="600" dirty="0"/>
          </a:p>
        </p:txBody>
      </p:sp>
      <p:sp>
        <p:nvSpPr>
          <p:cNvPr id="56" name="Shape 53"/>
          <p:cNvSpPr/>
          <p:nvPr/>
        </p:nvSpPr>
        <p:spPr>
          <a:xfrm>
            <a:off x="1128713" y="3525552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57" name="Shape 54"/>
          <p:cNvSpPr/>
          <p:nvPr/>
        </p:nvSpPr>
        <p:spPr>
          <a:xfrm>
            <a:off x="1128713" y="3525552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58" name="Text 55"/>
          <p:cNvSpPr/>
          <p:nvPr/>
        </p:nvSpPr>
        <p:spPr>
          <a:xfrm>
            <a:off x="1278731" y="3625565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1278731" y="3794113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ML adds predictive power. We don't just describe historical air quality — we predict it. 15 features include weather and temporal data. LightGBM selected after comparing 8 algorithms.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7954119" y="4231221"/>
            <a:ext cx="23261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12 / 24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775820"/>
          </a:xfrm>
          <a:prstGeom prst="roundRect">
            <a:avLst>
              <a:gd name="adj" fmla="val 2393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050256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Model Training Process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05025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818629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5869" y="962844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9" name="Text 6"/>
          <p:cNvSpPr/>
          <p:nvPr/>
        </p:nvSpPr>
        <p:spPr>
          <a:xfrm>
            <a:off x="1235869" y="96284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593056" y="925785"/>
            <a:ext cx="1995785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Data Loading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93056" y="1108621"/>
            <a:ext cx="199578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21,238 rows × 18 columns from silver_layer.csv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128713" y="1435782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35869" y="1579997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4" name="Text 11"/>
          <p:cNvSpPr/>
          <p:nvPr/>
        </p:nvSpPr>
        <p:spPr>
          <a:xfrm>
            <a:off x="1235869" y="157999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93056" y="1542938"/>
            <a:ext cx="3717317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Preprocessing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93056" y="1725774"/>
            <a:ext cx="371731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Drop 1,720 rows with missing AQI · Fill UVI NaN with median (5.0) · Encode categoricals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1128713" y="2052935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35869" y="2197150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9" name="Text 16"/>
          <p:cNvSpPr/>
          <p:nvPr/>
        </p:nvSpPr>
        <p:spPr>
          <a:xfrm>
            <a:off x="1235869" y="219715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593056" y="2160091"/>
            <a:ext cx="1871216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Train-Test Split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593056" y="2342927"/>
            <a:ext cx="187121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Train: 15,614 rows · Test: 3,904 rows (80/20)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128713" y="2670088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35869" y="2814303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24" name="Text 21"/>
          <p:cNvSpPr/>
          <p:nvPr/>
        </p:nvSpPr>
        <p:spPr>
          <a:xfrm>
            <a:off x="1235869" y="281430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593056" y="2777244"/>
            <a:ext cx="3790206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Algorithm Comparison (8 Models)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593056" y="2960080"/>
            <a:ext cx="379020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Linear Reg, Ridge, Lasso, Decision Tree, Random Forest, XGBoost, LightGBM, CatBoost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1128713" y="3287241"/>
            <a:ext cx="6886575" cy="545716"/>
          </a:xfrm>
          <a:prstGeom prst="roundRect">
            <a:avLst>
              <a:gd name="adj" fmla="val 13091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35869" y="3431456"/>
            <a:ext cx="257175" cy="257175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9" name="Text 26"/>
          <p:cNvSpPr/>
          <p:nvPr/>
        </p:nvSpPr>
        <p:spPr>
          <a:xfrm>
            <a:off x="1235869" y="343145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</a:rPr>
              <a:t>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593056" y="3394397"/>
            <a:ext cx="400117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A1A2E"/>
                </a:solidFill>
                <a:latin typeface="Plus Jakarta Sans" pitchFamily="34" charset="0"/>
              </a:rPr>
              <a:t>Hyperparameter Tuning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593056" y="3577233"/>
            <a:ext cx="400117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RandomizedSearchCV on LightGBM · 5 folds × 30 candidates = 150 fits · Best CV R² = 0.8770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1128713" y="3975832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3" name="Shape 30"/>
          <p:cNvSpPr/>
          <p:nvPr/>
        </p:nvSpPr>
        <p:spPr>
          <a:xfrm>
            <a:off x="1128713" y="3975832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4" name="Text 31"/>
          <p:cNvSpPr/>
          <p:nvPr/>
        </p:nvSpPr>
        <p:spPr>
          <a:xfrm>
            <a:off x="1278731" y="4075844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1278731" y="4244392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Walk through each step. Dropping rows with missing AQI is critical. Encoding shows categorical complexity (225 unique cities!). 150 fits show thoroughness.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7953338" y="4535835"/>
            <a:ext cx="23340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13 / 24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297314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386236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Model Comparison Results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38623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Eight algorithms evaluated. Tree-based ensembles significantly outperformed linear models.</a:t>
            </a:r>
            <a:endParaRPr lang="en-US" sz="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28713" y="1088641"/>
          <a:ext cx="6886575" cy="2451534"/>
        </p:xfrm>
        <a:graphic>
          <a:graphicData uri="http://schemas.openxmlformats.org/drawingml/2006/table">
            <a:tbl>
              <a:tblPr/>
              <a:tblGrid>
                <a:gridCol w="2955503"/>
                <a:gridCol w="979922"/>
                <a:gridCol w="969764"/>
                <a:gridCol w="954807"/>
                <a:gridCol w="1026579"/>
              </a:tblGrid>
              <a:tr h="2914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Algorithm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MAE ↓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RMSE ↓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R² ↑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highlight>
                            <a:srgbClr val="1A1A2E"/>
                          </a:highlight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CV-R² ↑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266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Linear Regression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0.7020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1.1239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0.1696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0.1678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Ridge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0.7020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1.1239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0.1696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0.1678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Lasso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0.6963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1.1227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0.1714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0.1666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Decision Tree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0.3200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0.6634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0.7107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0.7478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Random Forest ☆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0.2424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0.4489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0.8675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A1A2E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0.8665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XGBoost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0.2555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0.4623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0.8595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0.8610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LightGBM &amp;trophy; (Selected)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0.2672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0.4569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0.8628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980B9"/>
                          </a:solidFill>
                          <a:latin typeface="Plus Jakarta Sans Bold" pitchFamily="34" charset="0"/>
                          <a:ea typeface="Plus Jakarta Sans Bold" pitchFamily="34" charset="-122"/>
                          <a:cs typeface="Plus Jakarta Sans Bold" pitchFamily="34" charset="-120"/>
                        </a:rPr>
                        <a:t>0.8554</a:t>
                      </a:r>
                      <a:endParaRPr lang="en-US" sz="700" dirty="0">
                        <a:latin typeface="Plus Jakarta Sans Bold" charset="0"/>
                        <a:ea typeface="Plus Jakarta Sans Bold" charset="0"/>
                        <a:cs typeface="Plus Jakarta Sans Bold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CatBoost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0.2834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0.4656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0.8575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5555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0.8548</a:t>
                      </a:r>
                      <a:endParaRPr lang="en-US" sz="7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128713" y="3640187"/>
            <a:ext cx="6886575" cy="568598"/>
          </a:xfrm>
          <a:custGeom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0" name="Shape 6"/>
          <p:cNvSpPr/>
          <p:nvPr/>
        </p:nvSpPr>
        <p:spPr>
          <a:xfrm>
            <a:off x="1128713" y="3640187"/>
            <a:ext cx="28575" cy="568598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1" name="Text 7"/>
          <p:cNvSpPr/>
          <p:nvPr/>
        </p:nvSpPr>
        <p:spPr>
          <a:xfrm>
            <a:off x="1271588" y="3754487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Selection Rationale: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LightGBM selected for tuning despite Random Forest's slightly higher R² because gradient boosting typically achieves better generalization after hyperparameter optimization. Tuned LightGBM achieved R² = 0.8851.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1128713" y="4351660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13" name="Shape 9"/>
          <p:cNvSpPr/>
          <p:nvPr/>
        </p:nvSpPr>
        <p:spPr>
          <a:xfrm>
            <a:off x="1128713" y="4351660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14" name="Text 10"/>
          <p:cNvSpPr/>
          <p:nvPr/>
        </p:nvSpPr>
        <p:spPr>
          <a:xfrm>
            <a:off x="1278731" y="4451672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1278731" y="4620220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Dramatic difference: linear models R² ~0.17 vs tree ensembles ~0.86. Relationship is highly non-linear. LightGBM selected because gradient boosters improve more with tuning.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7951775" y="5057329"/>
            <a:ext cx="234962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14 / 24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890008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82235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Final Model Evaluation — LightGBM (Tuned)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82235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961504"/>
            <a:ext cx="1635919" cy="708571"/>
          </a:xfrm>
          <a:prstGeom prst="roundRect">
            <a:avLst>
              <a:gd name="adj" fmla="val 10082"/>
            </a:avLst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1581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980B9"/>
                </a:solidFill>
                <a:latin typeface="Plus Jakarta Sans" pitchFamily="34" charset="0"/>
              </a:rPr>
              <a:t>0.2328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21581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MAE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878931" y="961504"/>
            <a:ext cx="1635919" cy="708571"/>
          </a:xfrm>
          <a:prstGeom prst="roundRect">
            <a:avLst>
              <a:gd name="adj" fmla="val 10082"/>
            </a:avLst>
          </a:prstGeom>
          <a:gradFill>
            <a:gsLst>
              <a:gs pos="0">
                <a:srgbClr val="E8F5E9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Plus Jakarta Sans" pitchFamily="34" charset="0"/>
              </a:rPr>
              <a:t>0.1747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71800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MSE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629150" y="961504"/>
            <a:ext cx="1635919" cy="708571"/>
          </a:xfrm>
          <a:prstGeom prst="roundRect">
            <a:avLst>
              <a:gd name="adj" fmla="val 10082"/>
            </a:avLst>
          </a:prstGeom>
          <a:gradFill>
            <a:gsLst>
              <a:gs pos="0">
                <a:srgbClr val="FFF8E1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2019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39C12"/>
                </a:solidFill>
                <a:latin typeface="Plus Jakarta Sans" pitchFamily="34" charset="0"/>
              </a:rPr>
              <a:t>0.4180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722019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RMSE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6379369" y="961504"/>
            <a:ext cx="1635919" cy="708571"/>
          </a:xfrm>
          <a:prstGeom prst="roundRect">
            <a:avLst>
              <a:gd name="adj" fmla="val 10082"/>
            </a:avLst>
          </a:prstGeom>
          <a:gradFill>
            <a:gsLst>
              <a:gs pos="0">
                <a:srgbClr val="FCE8EC"/>
              </a:gs>
              <a:gs pos="100000">
                <a:srgbClr val="FFFFFF"/>
              </a:gs>
            </a:gsLst>
            <a:lin ang="2700000" scaled="1"/>
          </a:gra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2238" y="1111523"/>
            <a:ext cx="14501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0.8851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72238" y="1382985"/>
            <a:ext cx="1450181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888888"/>
                </a:solidFill>
                <a:latin typeface="Plus Jakarta Sans" pitchFamily="34" charset="0"/>
              </a:rPr>
              <a:t>R²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128713" y="1812950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Best Hyperparameters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28713" y="2064321"/>
            <a:ext cx="3343275" cy="1108397"/>
          </a:xfrm>
          <a:prstGeom prst="roundRect">
            <a:avLst>
              <a:gd name="adj" fmla="val 5156"/>
            </a:avLst>
          </a:prstGeom>
          <a:solidFill>
            <a:srgbClr val="1E1E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43013" y="2178621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{</a:t>
            </a: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'subsample'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1.0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1243013" y="2304306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'num_leaves'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127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243013" y="2429991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'n_estimators'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400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1243013" y="2555677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'min_child_samples'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10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243013" y="2681362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'max_depth'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-1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1243013" y="2807047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'learning_rate'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0.05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,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243013" y="2932733"/>
            <a:ext cx="311467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CE9178"/>
                </a:solidFill>
                <a:latin typeface="Consolas" pitchFamily="34" charset="0"/>
              </a:rPr>
              <a:t>'colsample_bytree'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: </a:t>
            </a:r>
            <a:r>
              <a:rPr lang="en-US" sz="600" dirty="0">
                <a:solidFill>
                  <a:srgbClr val="B5CEA8"/>
                </a:solidFill>
                <a:latin typeface="Consolas" pitchFamily="34" charset="0"/>
              </a:rPr>
              <a:t>0.8</a:t>
            </a:r>
            <a:r>
              <a:rPr lang="en-US" sz="600" dirty="0">
                <a:solidFill>
                  <a:srgbClr val="D4D4D4"/>
                </a:solidFill>
                <a:latin typeface="Consolas" pitchFamily="34" charset="0"/>
              </a:rPr>
              <a:t>}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4672013" y="1812950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Model Artifacts Saved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14888" y="206432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encoders.pkl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Label encoders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814888" y="227003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feature_names.pkl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Feature mapping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814888" y="247575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lgbm_model.pkl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Trained model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814888" y="268147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scaler.pkl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StandardScaler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14888" y="288719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uvi_median.pkl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UVI imputation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4672013" y="3157203"/>
            <a:ext cx="3343275" cy="544264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35" name="Shape 32"/>
          <p:cNvSpPr/>
          <p:nvPr/>
        </p:nvSpPr>
        <p:spPr>
          <a:xfrm>
            <a:off x="4672013" y="3157203"/>
            <a:ext cx="28575" cy="544264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36" name="Text 33"/>
          <p:cNvSpPr/>
          <p:nvPr/>
        </p:nvSpPr>
        <p:spPr>
          <a:xfrm>
            <a:off x="4814888" y="3271503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Plots: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Correlation heatmap, model comparison, predicted vs actual, residuals, feature importance, SHAP summary.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1128713" y="3944355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38" name="Shape 35"/>
          <p:cNvSpPr/>
          <p:nvPr/>
        </p:nvSpPr>
        <p:spPr>
          <a:xfrm>
            <a:off x="1128713" y="3944355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9" name="Text 36"/>
          <p:cNvSpPr/>
          <p:nvPr/>
        </p:nvSpPr>
        <p:spPr>
          <a:xfrm>
            <a:off x="1278731" y="4044367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1278731" y="4212915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Excellent results: R² 0.8851 explains 88.5% of variance. MAE 0.23 is very low (AQI ranges to 20). 400 estimators with conservative 0.05 learning rate shows well-tuned model.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7952780" y="4650023"/>
            <a:ext cx="23395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15 / 24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001741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510457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Prediction Demo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510457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68865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The trained model predicts AQI for new cities given weather conditions: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28713" y="1102928"/>
            <a:ext cx="3343275" cy="2127386"/>
          </a:xfrm>
          <a:prstGeom prst="roundRect">
            <a:avLst>
              <a:gd name="adj" fmla="val 3358"/>
            </a:avLst>
          </a:prstGeom>
          <a:gradFill>
            <a:gsLst>
              <a:gs pos="0">
                <a:srgbClr val="FFEBEE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5875" y="1260091"/>
            <a:ext cx="302895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E74C3C"/>
                </a:solidFill>
                <a:latin typeface="Plus Jakarta Sans" pitchFamily="34" charset="0"/>
              </a:rPr>
              <a:t>RECORD #1 — HAZARDOUS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285875" y="1457213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Country: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DE (Germany)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85875" y="1633575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City: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Berlin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85875" y="1809936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Date: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2023-11-15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285875" y="1986297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Temperature: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42.5°C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285875" y="2162659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Humidity: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70.0%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285875" y="2339020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Pressure: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1015.0 hPa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1285875" y="2558244"/>
            <a:ext cx="3028950" cy="514908"/>
          </a:xfrm>
          <a:prstGeom prst="rect">
            <a:avLst/>
          </a:prstGeom>
          <a:noFill/>
          <a:ln/>
        </p:spPr>
      </p:sp>
      <p:sp>
        <p:nvSpPr>
          <p:cNvPr id="17" name="Shape 14"/>
          <p:cNvSpPr/>
          <p:nvPr/>
        </p:nvSpPr>
        <p:spPr>
          <a:xfrm>
            <a:off x="1285875" y="2558244"/>
            <a:ext cx="30289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5"/>
          <p:cNvSpPr/>
          <p:nvPr/>
        </p:nvSpPr>
        <p:spPr>
          <a:xfrm>
            <a:off x="1285875" y="2686831"/>
            <a:ext cx="67363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Predicted AQI: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975358" y="2643969"/>
            <a:ext cx="45820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Plus Jakarta Sans" pitchFamily="34" charset="0"/>
              </a:rPr>
              <a:t>2.4503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85875" y="2895340"/>
            <a:ext cx="4640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Category: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780022" y="2866765"/>
            <a:ext cx="547167" cy="19210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  <p:txBody>
          <a:bodyPr wrap="none" lIns="71438" tIns="21431" rIns="71438" bIns="21431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600" b="1" dirty="0">
                <a:solidFill>
                  <a:srgbClr val="C62828"/>
                </a:solidFill>
                <a:latin typeface="Plus Jakarta Sans" pitchFamily="34" charset="0"/>
              </a:rPr>
              <a:t>Hazardous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4672013" y="1102928"/>
            <a:ext cx="3343275" cy="2127386"/>
          </a:xfrm>
          <a:prstGeom prst="roundRect">
            <a:avLst>
              <a:gd name="adj" fmla="val 3358"/>
            </a:avLst>
          </a:prstGeom>
          <a:gradFill>
            <a:gsLst>
              <a:gs pos="0">
                <a:srgbClr val="FFF8E1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9175" y="1260091"/>
            <a:ext cx="302895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F39C12"/>
                </a:solidFill>
                <a:latin typeface="Plus Jakarta Sans" pitchFamily="34" charset="0"/>
              </a:rPr>
              <a:t>RECORD #2 — POLLUTED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829175" y="1457213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Country: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PK (Pakistan)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829175" y="1633575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City: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Lahore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29175" y="1809936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Date: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2023-12-20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829175" y="1986297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Temperature: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14.0°C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829175" y="2162659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Humidity: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88.0%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829175" y="2339020"/>
            <a:ext cx="3028950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Pressure: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1010.0 hPa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829175" y="2558244"/>
            <a:ext cx="3028950" cy="514908"/>
          </a:xfrm>
          <a:prstGeom prst="rect">
            <a:avLst/>
          </a:prstGeom>
          <a:noFill/>
          <a:ln/>
        </p:spPr>
      </p:sp>
      <p:sp>
        <p:nvSpPr>
          <p:cNvPr id="31" name="Shape 28"/>
          <p:cNvSpPr/>
          <p:nvPr/>
        </p:nvSpPr>
        <p:spPr>
          <a:xfrm>
            <a:off x="4829175" y="2558244"/>
            <a:ext cx="30289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Text 29"/>
          <p:cNvSpPr/>
          <p:nvPr/>
        </p:nvSpPr>
        <p:spPr>
          <a:xfrm>
            <a:off x="4829175" y="2686831"/>
            <a:ext cx="67363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Predicted AQI: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518658" y="2643969"/>
            <a:ext cx="3885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1000" b="1" dirty="0">
                <a:solidFill>
                  <a:srgbClr val="F39C12"/>
                </a:solidFill>
                <a:latin typeface="Plus Jakarta Sans" pitchFamily="34" charset="0"/>
              </a:rPr>
              <a:t>1.5331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29175" y="2895340"/>
            <a:ext cx="4640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Category: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5323322" y="2866765"/>
            <a:ext cx="459879" cy="19210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  <p:txBody>
          <a:bodyPr wrap="none" lIns="71438" tIns="21431" rIns="71438" bIns="21431" rtlCol="0" anchor="t"/>
          <a:lstStyle/>
          <a:p>
            <a:pPr indent="0" marL="0">
              <a:lnSpc>
                <a:spcPct val="190000"/>
              </a:lnSpc>
              <a:buNone/>
            </a:pPr>
            <a:r>
              <a:rPr lang="en-US" sz="600" b="1" dirty="0">
                <a:solidFill>
                  <a:srgbClr val="E65100"/>
                </a:solidFill>
                <a:latin typeface="Plus Jakarta Sans" pitchFamily="34" charset="0"/>
              </a:rPr>
              <a:t>Polluted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1128713" y="3344614"/>
            <a:ext cx="6886575" cy="568598"/>
          </a:xfrm>
          <a:custGeom>
            <a:pathLst>
              <a:path w="21600" h="21600">
                <a:moveTo>
                  <a:pt x="0" y="0"/>
                </a:moveTo>
                <a:lnTo>
                  <a:pt x="21376" y="0"/>
                </a:lnTo>
                <a:lnTo>
                  <a:pt x="21420" y="52"/>
                </a:lnTo>
                <a:lnTo>
                  <a:pt x="21462" y="207"/>
                </a:lnTo>
                <a:lnTo>
                  <a:pt x="21500" y="457"/>
                </a:lnTo>
                <a:lnTo>
                  <a:pt x="21534" y="795"/>
                </a:lnTo>
                <a:lnTo>
                  <a:pt x="21562" y="1206"/>
                </a:lnTo>
                <a:lnTo>
                  <a:pt x="21583" y="1675"/>
                </a:lnTo>
                <a:lnTo>
                  <a:pt x="21596" y="2184"/>
                </a:lnTo>
                <a:lnTo>
                  <a:pt x="21600" y="2714"/>
                </a:lnTo>
                <a:lnTo>
                  <a:pt x="21600" y="18886"/>
                </a:lnTo>
                <a:lnTo>
                  <a:pt x="21596" y="19416"/>
                </a:lnTo>
                <a:lnTo>
                  <a:pt x="21583" y="19925"/>
                </a:lnTo>
                <a:lnTo>
                  <a:pt x="21562" y="20394"/>
                </a:lnTo>
                <a:lnTo>
                  <a:pt x="21534" y="20805"/>
                </a:lnTo>
                <a:lnTo>
                  <a:pt x="21500" y="21143"/>
                </a:lnTo>
                <a:lnTo>
                  <a:pt x="21462" y="21393"/>
                </a:lnTo>
                <a:lnTo>
                  <a:pt x="21420" y="21548"/>
                </a:lnTo>
                <a:lnTo>
                  <a:pt x="2137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8713" y="3344614"/>
            <a:ext cx="28575" cy="568598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38" name="Text 35"/>
          <p:cNvSpPr/>
          <p:nvPr/>
        </p:nvSpPr>
        <p:spPr>
          <a:xfrm>
            <a:off x="1271588" y="3458914"/>
            <a:ext cx="66294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Interpretation: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Berlin's extreme temperature (42.5°C) drives Hazardous prediction, consistent with positive temp-AQI correlation. Lahore's winter high humidity predicts Polluted status.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1128713" y="4056087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40" name="Shape 37"/>
          <p:cNvSpPr/>
          <p:nvPr/>
        </p:nvSpPr>
        <p:spPr>
          <a:xfrm>
            <a:off x="1128713" y="4056087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41" name="Text 38"/>
          <p:cNvSpPr/>
          <p:nvPr/>
        </p:nvSpPr>
        <p:spPr>
          <a:xfrm>
            <a:off x="1278731" y="415610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1278731" y="4324648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Demo predictions show model in action. Berlin's extreme temp drives Hazardous — aligns with +0.26 correlation. Lahore in winter with high humidity predicts Polluted. Model outputs numeric AQI and categorical label.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7955124" y="4761756"/>
            <a:ext cx="23161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16 / 24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744231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598329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Power BI Dashboard — AQI &amp; Categories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598329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AQI Page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Ranks countries and cities by pollution. Dhaka (Bangladesh) highest, Taiping (Malaysia) lowest.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271588" y="1481435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Global avg/max/min AQI; most/least polluted country &amp; city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71588" y="1687153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Bar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Average AQI by city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89287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Pie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AQI by country (relative share)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09858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Treemap: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Hierarchical country-city view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128713" y="2368600"/>
            <a:ext cx="3343275" cy="544264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0F3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8713" y="2368600"/>
            <a:ext cx="28575" cy="544264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Text 12"/>
          <p:cNvSpPr/>
          <p:nvPr/>
        </p:nvSpPr>
        <p:spPr>
          <a:xfrm>
            <a:off x="1271588" y="2482900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Insight: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Pollution drops sharply after top cities — localized emission sources, not broad regional effects.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6720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Categories Page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72013" y="1070000"/>
            <a:ext cx="33432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Breaks down readings into Safe / Polluted / Hazardous bands.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14888" y="131143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Total, Safe, Polluted, Hazardous counts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14888" y="151715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Donut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Overall distribution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14888" y="172287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Stacked Area: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Monthly trend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14888" y="192858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Stacked Bars: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City/country breakdowns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72013" y="2198601"/>
            <a:ext cx="3343275" cy="544264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23" name="Shape 20"/>
          <p:cNvSpPr/>
          <p:nvPr/>
        </p:nvSpPr>
        <p:spPr>
          <a:xfrm>
            <a:off x="4672013" y="2198601"/>
            <a:ext cx="28575" cy="544264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4" name="Text 21"/>
          <p:cNvSpPr/>
          <p:nvPr/>
        </p:nvSpPr>
        <p:spPr>
          <a:xfrm>
            <a:off x="4814888" y="2312901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Distribution: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66.6% Safe, 22.9% Polluted, 10.6% Hazardous. Hazardous band widens Oct→Dec.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3127177"/>
            <a:ext cx="6886575" cy="528526"/>
          </a:xfrm>
          <a:prstGeom prst="roundRect">
            <a:avLst>
              <a:gd name="adj" fmla="val 10813"/>
            </a:avLst>
          </a:prstGeom>
          <a:solidFill>
            <a:srgbClr val="F8F9FA"/>
          </a:solidFill>
          <a:ln/>
        </p:spPr>
      </p:sp>
      <p:sp>
        <p:nvSpPr>
          <p:cNvPr id="26" name="Text 23"/>
          <p:cNvSpPr/>
          <p:nvPr/>
        </p:nvSpPr>
        <p:spPr>
          <a:xfrm>
            <a:off x="1228725" y="3227189"/>
            <a:ext cx="66865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Dashboard Screenshots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228725" y="3407122"/>
            <a:ext cx="66865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Plus Jakarta Sans" pitchFamily="34" charset="0"/>
              </a:rPr>
              <a:t>AQI Page: Dhaka at 12.4 avg AQI (11× global avg). Categories: Donut shows 66.55% Safe readings.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1128713" y="3798577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28713" y="3798577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0" name="Text 27"/>
          <p:cNvSpPr/>
          <p:nvPr/>
        </p:nvSpPr>
        <p:spPr>
          <a:xfrm>
            <a:off x="1278731" y="389859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1278731" y="4067138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AQI page answers "where is worst air quality?" Categories answers "how much is safe?" 66.6% Safe is reassuring; 10.6% Hazardous is concerning. Seasonal widening is key.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958584" y="4504246"/>
            <a:ext cx="22815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17 / 24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837422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Power BI Dashboard — Time &amp; Temperature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837422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Time Page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Examines AQI evolution day-by-day, weekdays vs weekends, across seasons.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271588" y="1481435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Seasons (2), Months (3), Days (92), Weekday/Weekend split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71588" y="1687153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Key Dates: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Cleanest (29 Oct), Most polluted (1 Dec)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892871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Line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AQI by day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2098588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Bar Charts: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By day-type, month, season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128713" y="2368600"/>
            <a:ext cx="3343275" cy="544264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8713" y="2368600"/>
            <a:ext cx="28575" cy="544264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15" name="Text 12"/>
          <p:cNvSpPr/>
          <p:nvPr/>
        </p:nvSpPr>
        <p:spPr>
          <a:xfrm>
            <a:off x="1271588" y="2482900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Finding: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Winter AQI (1.17) &gt; Autumn (0.99). Weekday (1.07) vs Weekend (1.02) — marginal difference.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6720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Temperature Page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72013" y="1070000"/>
            <a:ext cx="33432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Surfaces temperature extremes and relationship with AQI.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14888" y="131143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Avg (11.11°C), Max (49°C), Min (-32.3°C), Range (81.3°C)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14888" y="151715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Extremes: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Hottest — Jakarta, Coldest — Krasnoyarsk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14888" y="172287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Line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Temperature trend over Q4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14888" y="192858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Scatter: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Temperature vs AQI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72013" y="2198601"/>
            <a:ext cx="3343275" cy="544264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0F3"/>
          </a:solidFill>
          <a:ln/>
        </p:spPr>
      </p:sp>
      <p:sp>
        <p:nvSpPr>
          <p:cNvPr id="23" name="Shape 20"/>
          <p:cNvSpPr/>
          <p:nvPr/>
        </p:nvSpPr>
        <p:spPr>
          <a:xfrm>
            <a:off x="4672013" y="2198601"/>
            <a:ext cx="28575" cy="544264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4" name="Text 21"/>
          <p:cNvSpPr/>
          <p:nvPr/>
        </p:nvSpPr>
        <p:spPr>
          <a:xfrm>
            <a:off x="4814888" y="2312901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Correlation: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Temperature +0.26 with AQI. Warmer days coincide with modestly higher AQI.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3155752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6" name="Shape 23"/>
          <p:cNvSpPr/>
          <p:nvPr/>
        </p:nvSpPr>
        <p:spPr>
          <a:xfrm>
            <a:off x="1128713" y="3155752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7" name="Text 24"/>
          <p:cNvSpPr/>
          <p:nvPr/>
        </p:nvSpPr>
        <p:spPr>
          <a:xfrm>
            <a:off x="1278731" y="3255764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1278731" y="3424312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Time page shows clear seasonal pattern — Winter worse than Autumn. Weekday/weekend surprisingly small. Temperature page confirms +0.26 correlation — measurable but not dominant.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951887" y="4189140"/>
            <a:ext cx="234851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18 / 24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620667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443861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Power BI Dashboard — Humidity &amp; Wind/Dew/UVI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443861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Humidity Page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8713" y="1070000"/>
            <a:ext cx="33432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Tracks relative humidity and its relationship with AQI.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271588" y="131143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Avg (76.34%), Max (100.3%), Min (0.2%)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71588" y="151715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Extremes: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Most humid — Helsinki, Least — Taiping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71588" y="172287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Line Chart: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Humidity trend by day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271588" y="192858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Scatter: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Humidity vs AQI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128713" y="2198601"/>
            <a:ext cx="3343275" cy="544264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14" name="Shape 11"/>
          <p:cNvSpPr/>
          <p:nvPr/>
        </p:nvSpPr>
        <p:spPr>
          <a:xfrm>
            <a:off x="1128713" y="2198601"/>
            <a:ext cx="28575" cy="544264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5" name="Text 12"/>
          <p:cNvSpPr/>
          <p:nvPr/>
        </p:nvSpPr>
        <p:spPr>
          <a:xfrm>
            <a:off x="1271588" y="2312901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Correlation: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Humidity -0.20 with AQI. Higher humidity coincides with lower AQI — particulate settling.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6720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Wind, Dew &amp; UVI Page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72013" y="1070000"/>
            <a:ext cx="33432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Three secondary weather factors in one view.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814888" y="1311436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KPIs: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Avg UVI (4.26), Dew (7.71), Wind Gust (9.38)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14888" y="1517154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Three Scatters: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Dew/UVI/Wind vs AQI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14888" y="1722872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Grouped Bar: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Country-level comparison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14888" y="1928589"/>
            <a:ext cx="32004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Line: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Daily trends combined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672013" y="2198601"/>
            <a:ext cx="3343275" cy="544264"/>
          </a:xfrm>
          <a:custGeom>
            <a:pathLst>
              <a:path w="21600" h="21600">
                <a:moveTo>
                  <a:pt x="0" y="0"/>
                </a:moveTo>
                <a:lnTo>
                  <a:pt x="21138" y="0"/>
                </a:lnTo>
                <a:lnTo>
                  <a:pt x="21229" y="54"/>
                </a:lnTo>
                <a:lnTo>
                  <a:pt x="21315" y="216"/>
                </a:lnTo>
                <a:lnTo>
                  <a:pt x="21395" y="478"/>
                </a:lnTo>
                <a:lnTo>
                  <a:pt x="21465" y="830"/>
                </a:lnTo>
                <a:lnTo>
                  <a:pt x="21522" y="1260"/>
                </a:lnTo>
                <a:lnTo>
                  <a:pt x="21565" y="1750"/>
                </a:lnTo>
                <a:lnTo>
                  <a:pt x="21591" y="2282"/>
                </a:lnTo>
                <a:lnTo>
                  <a:pt x="21600" y="2835"/>
                </a:lnTo>
                <a:lnTo>
                  <a:pt x="21600" y="18765"/>
                </a:lnTo>
                <a:lnTo>
                  <a:pt x="21591" y="19318"/>
                </a:lnTo>
                <a:lnTo>
                  <a:pt x="21565" y="19850"/>
                </a:lnTo>
                <a:lnTo>
                  <a:pt x="21522" y="20340"/>
                </a:lnTo>
                <a:lnTo>
                  <a:pt x="21465" y="20770"/>
                </a:lnTo>
                <a:lnTo>
                  <a:pt x="21395" y="21122"/>
                </a:lnTo>
                <a:lnTo>
                  <a:pt x="21315" y="21384"/>
                </a:lnTo>
                <a:lnTo>
                  <a:pt x="21229" y="21546"/>
                </a:lnTo>
                <a:lnTo>
                  <a:pt x="21138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672013" y="2198601"/>
            <a:ext cx="28575" cy="544264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4" name="Text 21"/>
          <p:cNvSpPr/>
          <p:nvPr/>
        </p:nvSpPr>
        <p:spPr>
          <a:xfrm>
            <a:off x="4814888" y="2312901"/>
            <a:ext cx="308610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Finding: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Dew point shows clearest (weak) positive AQI relation. Wind gust shows almost none.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128713" y="2957178"/>
            <a:ext cx="6886575" cy="574960"/>
          </a:xfrm>
          <a:prstGeom prst="roundRect">
            <a:avLst>
              <a:gd name="adj" fmla="val 9940"/>
            </a:avLst>
          </a:prstGeom>
          <a:solidFill>
            <a:srgbClr val="F8F9FA"/>
          </a:solidFill>
          <a:ln/>
        </p:spPr>
      </p:sp>
      <p:sp>
        <p:nvSpPr>
          <p:cNvPr id="26" name="Text 23"/>
          <p:cNvSpPr/>
          <p:nvPr/>
        </p:nvSpPr>
        <p:spPr>
          <a:xfrm>
            <a:off x="1228725" y="3057190"/>
            <a:ext cx="6686550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16213E"/>
                </a:solidFill>
                <a:latin typeface="Plus Jakarta Sans" pitchFamily="34" charset="0"/>
              </a:rPr>
              <a:t>Cross-Page Filtering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228725" y="3274293"/>
            <a:ext cx="668655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Every page shares left-hand slicers (Day, Month, Season, City, Country) + topic switcher. Drill from global to single city/day.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1128713" y="3675013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28713" y="3675013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0" name="Text 27"/>
          <p:cNvSpPr/>
          <p:nvPr/>
        </p:nvSpPr>
        <p:spPr>
          <a:xfrm>
            <a:off x="1278731" y="3775025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1278731" y="3943573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Humidity shows opposite correlation to temp — negative. Physically plausible: rain settles particulates. Wind/Dew/UVI: dew matters more than wind. Cross-page filtering is key UX.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954342" y="4380681"/>
            <a:ext cx="232395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19 / 24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355580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040992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Key Insights &amp; Findings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040992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818629"/>
            <a:ext cx="3393281" cy="1204168"/>
          </a:xfrm>
          <a:prstGeom prst="roundRect">
            <a:avLst>
              <a:gd name="adj" fmla="val 593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64444" y="954360"/>
            <a:ext cx="312181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lus Jakarta Sans" pitchFamily="34" charset="0"/>
              </a:rPr>
              <a:t>🏆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64444" y="1248594"/>
            <a:ext cx="312181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Geographic Concentration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64444" y="1499964"/>
            <a:ext cx="3121819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Bangladesh leads with avg AQI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12.36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— 11x global average. Dhaka most polluted city. Pollution concentrated in few cities.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622006" y="818629"/>
            <a:ext cx="3393281" cy="1204168"/>
          </a:xfrm>
          <a:prstGeom prst="roundRect">
            <a:avLst>
              <a:gd name="adj" fmla="val 593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7738" y="954360"/>
            <a:ext cx="312181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lus Jakarta Sans" pitchFamily="34" charset="0"/>
              </a:rPr>
              <a:t>📊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7738" y="1248594"/>
            <a:ext cx="312181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Category Distribution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7738" y="1499964"/>
            <a:ext cx="3121819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61.2%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Safe,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21.0%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Polluted,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9.7%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 Hazardous. Majority remain safe.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128713" y="2122810"/>
            <a:ext cx="3393281" cy="1204168"/>
          </a:xfrm>
          <a:prstGeom prst="roundRect">
            <a:avLst>
              <a:gd name="adj" fmla="val 593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64444" y="2258541"/>
            <a:ext cx="312181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lus Jakarta Sans" pitchFamily="34" charset="0"/>
              </a:rPr>
              <a:t>📅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64444" y="2552774"/>
            <a:ext cx="312181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Seasonal Patterns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264444" y="2804145"/>
            <a:ext cx="3121819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Winter AQI (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1.17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) &gt; Autumn (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0.99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). Hazardous band widens Oct-Dec. Weekday vs weekend marginal.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4622006" y="2122810"/>
            <a:ext cx="3393281" cy="1204168"/>
          </a:xfrm>
          <a:prstGeom prst="roundRect">
            <a:avLst>
              <a:gd name="adj" fmla="val 593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7738" y="2258541"/>
            <a:ext cx="3121819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Plus Jakarta Sans" pitchFamily="34" charset="0"/>
              </a:rPr>
              <a:t>🌡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7738" y="2552774"/>
            <a:ext cx="312181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Weather Correlations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7738" y="2804145"/>
            <a:ext cx="3121819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Temperature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+0.26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, Humidity </a:t>
            </a:r>
            <a:r>
              <a:rPr lang="en-US" sz="700" b="1" dirty="0">
                <a:solidFill>
                  <a:srgbClr val="555555"/>
                </a:solidFill>
                <a:latin typeface="Plus Jakarta Sans" pitchFamily="34" charset="0"/>
              </a:rPr>
              <a:t>-0.20</a:t>
            </a: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. Moderate effects — geography remains primary driver.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128713" y="3441278"/>
            <a:ext cx="6886575" cy="825773"/>
          </a:xfrm>
          <a:prstGeom prst="roundRect">
            <a:avLst>
              <a:gd name="adj" fmla="val 8651"/>
            </a:avLst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/>
        </p:spPr>
      </p:sp>
      <p:sp>
        <p:nvSpPr>
          <p:cNvPr id="24" name="Shape 21"/>
          <p:cNvSpPr/>
          <p:nvPr/>
        </p:nvSpPr>
        <p:spPr>
          <a:xfrm>
            <a:off x="1128713" y="3441278"/>
            <a:ext cx="21431" cy="825773"/>
          </a:xfrm>
          <a:custGeom>
            <a:pathLst>
              <a:path w="21600" h="21600">
                <a:moveTo>
                  <a:pt x="21600" y="534"/>
                </a:moveTo>
                <a:cubicBezTo>
                  <a:pt x="7785" y="886"/>
                  <a:pt x="0" y="1367"/>
                  <a:pt x="0" y="1869"/>
                </a:cubicBezTo>
                <a:lnTo>
                  <a:pt x="0" y="19731"/>
                </a:lnTo>
                <a:cubicBezTo>
                  <a:pt x="0" y="20233"/>
                  <a:pt x="7785" y="20714"/>
                  <a:pt x="21600" y="21066"/>
                </a:cubicBezTo>
                <a:lnTo>
                  <a:pt x="21600" y="20666"/>
                </a:lnTo>
                <a:cubicBezTo>
                  <a:pt x="21600" y="20419"/>
                  <a:pt x="21600" y="20083"/>
                  <a:pt x="21600" y="19731"/>
                </a:cubicBezTo>
                <a:lnTo>
                  <a:pt x="21600" y="1869"/>
                </a:lnTo>
                <a:cubicBezTo>
                  <a:pt x="21600" y="1517"/>
                  <a:pt x="21600" y="1181"/>
                  <a:pt x="21600" y="934"/>
                </a:cubicBezTo>
                <a:lnTo>
                  <a:pt x="21600" y="534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25" name="Text 22"/>
          <p:cNvSpPr/>
          <p:nvPr/>
        </p:nvSpPr>
        <p:spPr>
          <a:xfrm>
            <a:off x="1264444" y="3555578"/>
            <a:ext cx="66365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800" b="1" dirty="0">
                <a:solidFill>
                  <a:srgbClr val="16213E"/>
                </a:solidFill>
                <a:latin typeface="Plus Jakarta Sans" pitchFamily="34" charset="0"/>
              </a:rPr>
              <a:t>SMART Questions Answered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264444" y="3784178"/>
            <a:ext cx="328255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Q1: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Highest AQI? → Bangladesh/Dhaka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618434" y="3784178"/>
            <a:ext cx="328255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Q2: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Proportions? → 61% Safe, 21% Polluted, 10% Hazardous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264444" y="4004183"/>
            <a:ext cx="328255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Q3: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Seasonal diff? → Winter &gt; Autumn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618434" y="4004183"/>
            <a:ext cx="328255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lus Jakarta Sans" pitchFamily="34" charset="0"/>
              </a:rPr>
              <a:t>Q4:</a:t>
            </a:r>
            <a:r>
              <a:rPr lang="en-US" sz="700" dirty="0">
                <a:solidFill>
                  <a:srgbClr val="333333"/>
                </a:solidFill>
                <a:latin typeface="Plus Jakarta Sans" pitchFamily="34" charset="0"/>
              </a:rPr>
              <a:t> Weather relation? → Temp (+0.26), Humidity (-0.20)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1128713" y="4409926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31" name="Shape 28"/>
          <p:cNvSpPr/>
          <p:nvPr/>
        </p:nvSpPr>
        <p:spPr>
          <a:xfrm>
            <a:off x="1128713" y="4409926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2" name="Text 29"/>
          <p:cNvSpPr/>
          <p:nvPr/>
        </p:nvSpPr>
        <p:spPr>
          <a:xfrm>
            <a:off x="1278731" y="4509939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1278731" y="4678487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Four key insights. Geographic concentration is most striking — Dhaka at 11x global average is alarming. Seasonal pattern important for health planning. Weather correlations scientifically consistent.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7925767" y="5115595"/>
            <a:ext cx="260970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20 / 24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018261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2649996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Challenges Faced &amp; Solutions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264999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4"/>
          <p:cNvSpPr/>
          <p:nvPr/>
        </p:nvSpPr>
        <p:spPr>
          <a:xfrm>
            <a:off x="1128713" y="818629"/>
            <a:ext cx="6886575" cy="1075581"/>
          </a:xfrm>
          <a:prstGeom prst="roundRect">
            <a:avLst>
              <a:gd name="adj" fmla="val 6642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64444" y="954360"/>
            <a:ext cx="314325" cy="314325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1264444" y="954360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lus Jakarta Sans" pitchFamily="34" charset="0"/>
              </a:rPr>
              <a:t>⚠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93069" y="954360"/>
            <a:ext cx="6186488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Long-Format Source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93069" y="1177156"/>
            <a:ext cx="6186488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Each city/date had multiple rows (one per species). Reshaping via pivot while preserving valid readings required careful missing combination handling.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1693069" y="1535683"/>
            <a:ext cx="6186488" cy="222796"/>
          </a:xfrm>
          <a:prstGeom prst="roundRect">
            <a:avLst>
              <a:gd name="adj" fmla="val 16032"/>
            </a:avLst>
          </a:prstGeom>
          <a:solidFill>
            <a:srgbClr val="E8F5E9"/>
          </a:solidFill>
          <a:ln/>
        </p:spPr>
      </p:sp>
      <p:sp>
        <p:nvSpPr>
          <p:cNvPr id="13" name="Text 10"/>
          <p:cNvSpPr/>
          <p:nvPr/>
        </p:nvSpPr>
        <p:spPr>
          <a:xfrm>
            <a:off x="1693069" y="1535683"/>
            <a:ext cx="6186488" cy="222796"/>
          </a:xfrm>
          <a:prstGeom prst="rect">
            <a:avLst/>
          </a:prstGeom>
          <a:noFill/>
          <a:ln/>
        </p:spPr>
        <p:txBody>
          <a:bodyPr wrap="none" lIns="73660" tIns="44196" rIns="73660" bIns="44196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Solution:</a:t>
            </a:r>
            <a:r>
              <a:rPr lang="en-US" sz="600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 Group-wise forward/backward filling within each city before pivoting.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1128713" y="1994222"/>
            <a:ext cx="6886575" cy="917749"/>
          </a:xfrm>
          <a:prstGeom prst="roundRect">
            <a:avLst>
              <a:gd name="adj" fmla="val 7784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64444" y="2129954"/>
            <a:ext cx="314325" cy="314325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/>
        </p:spPr>
      </p:sp>
      <p:sp>
        <p:nvSpPr>
          <p:cNvPr id="16" name="Text 13"/>
          <p:cNvSpPr/>
          <p:nvPr/>
        </p:nvSpPr>
        <p:spPr>
          <a:xfrm>
            <a:off x="1264444" y="2129954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lus Jakarta Sans" pitchFamily="34" charset="0"/>
              </a:rPr>
              <a:t>🔤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93069" y="2129954"/>
            <a:ext cx="5337609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Inconsistent Species Naming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693069" y="2352749"/>
            <a:ext cx="5337609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Wind gust appeared as wind-gust, wind_gust, windgust. Would silently split into sparse columns, undercounting coverage.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1693069" y="2553444"/>
            <a:ext cx="5337609" cy="222796"/>
          </a:xfrm>
          <a:prstGeom prst="roundRect">
            <a:avLst>
              <a:gd name="adj" fmla="val 16032"/>
            </a:avLst>
          </a:prstGeom>
          <a:solidFill>
            <a:srgbClr val="E8F5E9"/>
          </a:solidFill>
          <a:ln/>
        </p:spPr>
      </p:sp>
      <p:sp>
        <p:nvSpPr>
          <p:cNvPr id="20" name="Text 17"/>
          <p:cNvSpPr/>
          <p:nvPr/>
        </p:nvSpPr>
        <p:spPr>
          <a:xfrm>
            <a:off x="1693069" y="2553444"/>
            <a:ext cx="5337609" cy="222796"/>
          </a:xfrm>
          <a:prstGeom prst="rect">
            <a:avLst/>
          </a:prstGeom>
          <a:noFill/>
          <a:ln/>
        </p:spPr>
        <p:txBody>
          <a:bodyPr wrap="none" lIns="73660" tIns="44196" rIns="73660" bIns="44196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Solution:</a:t>
            </a:r>
            <a:r>
              <a:rPr lang="en-US" sz="600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 Dedicated normalization unifies variants before pivoting.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1128713" y="3011984"/>
            <a:ext cx="6886575" cy="917749"/>
          </a:xfrm>
          <a:prstGeom prst="roundRect">
            <a:avLst>
              <a:gd name="adj" fmla="val 7784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264444" y="3147715"/>
            <a:ext cx="314325" cy="314325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/>
        </p:spPr>
      </p:sp>
      <p:sp>
        <p:nvSpPr>
          <p:cNvPr id="23" name="Text 20"/>
          <p:cNvSpPr/>
          <p:nvPr/>
        </p:nvSpPr>
        <p:spPr>
          <a:xfrm>
            <a:off x="1264444" y="3147715"/>
            <a:ext cx="3143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lus Jakarta Sans" pitchFamily="34" charset="0"/>
              </a:rPr>
              <a:t>❓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693069" y="3147715"/>
            <a:ext cx="4953633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Missing vs Invalid Data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93069" y="3370511"/>
            <a:ext cx="4953633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Missing precipitation = zero (no rain). Missing temperature = estimate from neighbors. Different strategies needed.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1693069" y="3571205"/>
            <a:ext cx="4953633" cy="222796"/>
          </a:xfrm>
          <a:prstGeom prst="roundRect">
            <a:avLst>
              <a:gd name="adj" fmla="val 16032"/>
            </a:avLst>
          </a:prstGeom>
          <a:solidFill>
            <a:srgbClr val="E8F5E9"/>
          </a:solidFill>
          <a:ln/>
        </p:spPr>
      </p:sp>
      <p:sp>
        <p:nvSpPr>
          <p:cNvPr id="27" name="Text 24"/>
          <p:cNvSpPr/>
          <p:nvPr/>
        </p:nvSpPr>
        <p:spPr>
          <a:xfrm>
            <a:off x="1693069" y="3571205"/>
            <a:ext cx="4953633" cy="222796"/>
          </a:xfrm>
          <a:prstGeom prst="rect">
            <a:avLst/>
          </a:prstGeom>
          <a:noFill/>
          <a:ln/>
        </p:spPr>
        <p:txBody>
          <a:bodyPr wrap="none" lIns="73660" tIns="44196" rIns="73660" bIns="44196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Solution:</a:t>
            </a:r>
            <a:r>
              <a:rPr lang="en-US" sz="600" dirty="0">
                <a:solidFill>
                  <a:srgbClr val="333333"/>
                </a:solidFill>
                <a:highlight>
                  <a:srgbClr val="E8F5E9"/>
                </a:highlight>
                <a:latin typeface="Plus Jakarta Sans" pitchFamily="34" charset="0"/>
              </a:rPr>
              <a:t> Field-specific imputation, not blanket rules.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1128713" y="4072607"/>
            <a:ext cx="6886575" cy="659904"/>
          </a:xfrm>
          <a:prstGeom prst="roundRect">
            <a:avLst>
              <a:gd name="adj" fmla="val 8660"/>
            </a:avLst>
          </a:prstGeom>
          <a:solidFill>
            <a:srgbClr val="F0F0F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28713" y="4072607"/>
            <a:ext cx="21431" cy="659904"/>
          </a:xfrm>
          <a:custGeom>
            <a:pathLst>
              <a:path w="21600" h="21600">
                <a:moveTo>
                  <a:pt x="21600" y="410"/>
                </a:moveTo>
                <a:cubicBezTo>
                  <a:pt x="7947" y="765"/>
                  <a:pt x="0" y="1303"/>
                  <a:pt x="0" y="1871"/>
                </a:cubicBezTo>
                <a:lnTo>
                  <a:pt x="0" y="19729"/>
                </a:lnTo>
                <a:cubicBezTo>
                  <a:pt x="0" y="20297"/>
                  <a:pt x="7947" y="20835"/>
                  <a:pt x="21600" y="21190"/>
                </a:cubicBezTo>
                <a:lnTo>
                  <a:pt x="21600" y="20642"/>
                </a:lnTo>
                <a:cubicBezTo>
                  <a:pt x="21600" y="20420"/>
                  <a:pt x="21600" y="20084"/>
                  <a:pt x="21600" y="19729"/>
                </a:cubicBezTo>
                <a:lnTo>
                  <a:pt x="21600" y="1871"/>
                </a:lnTo>
                <a:cubicBezTo>
                  <a:pt x="21600" y="1516"/>
                  <a:pt x="21600" y="1180"/>
                  <a:pt x="21600" y="958"/>
                </a:cubicBezTo>
                <a:lnTo>
                  <a:pt x="21600" y="410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0" name="Text 27"/>
          <p:cNvSpPr/>
          <p:nvPr/>
        </p:nvSpPr>
        <p:spPr>
          <a:xfrm>
            <a:off x="1278731" y="417262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1278731" y="4341168"/>
            <a:ext cx="6607969" cy="29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Real-world data engineering experience. Long-format issue common in sensor data. Naming inconsistency classic quality problem. Imputation challenge shows domain knowledge.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954119" y="4778276"/>
            <a:ext cx="232618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21 / 24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667213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3119698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Limitations &amp; Future Improvements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3119698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1287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Current Limitations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28713" y="1070000"/>
            <a:ext cx="3343275" cy="1228613"/>
          </a:xfrm>
          <a:prstGeom prst="roundRect">
            <a:avLst>
              <a:gd name="adj" fmla="val 4652"/>
            </a:avLst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170012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Single quarter (Q4 2023) — only Autumn/Winter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371600" y="1375730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8.1% readings labeled "Unknown"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371600" y="1581448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Pollutant detail dropped after AQI calc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371600" y="1787165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Manual pipeline execution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371600" y="1992883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Simple Pearson correlation only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672013" y="818629"/>
            <a:ext cx="3343275" cy="194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Future Improvements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72013" y="1070000"/>
            <a:ext cx="3343275" cy="1434331"/>
          </a:xfrm>
          <a:prstGeom prst="roundRect">
            <a:avLst>
              <a:gd name="adj" fmla="val 3984"/>
            </a:avLst>
          </a:prstGeom>
          <a:solidFill>
            <a:srgbClr val="E8F5E9"/>
          </a:solidFill>
          <a:ln/>
        </p:spPr>
      </p:sp>
      <p:sp>
        <p:nvSpPr>
          <p:cNvPr id="16" name="Text 13"/>
          <p:cNvSpPr/>
          <p:nvPr/>
        </p:nvSpPr>
        <p:spPr>
          <a:xfrm>
            <a:off x="4914900" y="1170012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Extend to full annual cycle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914900" y="1375730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Retain individual pollutant columns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914900" y="1581448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Automate with Airflow/cloud scheduler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914900" y="1787165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Add AQI forecasting layer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914900" y="1992883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Automated data-quality tests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914900" y="2198601"/>
            <a:ext cx="30003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1600" indent="-101600">
              <a:lnSpc>
                <a:spcPct val="170000"/>
              </a:lnSpc>
              <a:buSzPct val="100000"/>
              <a:buChar char="•"/>
            </a:pPr>
            <a:r>
              <a:rPr lang="en-US" sz="700" dirty="0">
                <a:solidFill>
                  <a:srgbClr val="555555"/>
                </a:solidFill>
                <a:latin typeface="Plus Jakarta Sans" pitchFamily="34" charset="0"/>
              </a:rPr>
              <a:t>Conditional formatting in Power BI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128713" y="2675781"/>
            <a:ext cx="6886575" cy="1048569"/>
          </a:xfrm>
          <a:prstGeom prst="roundRect">
            <a:avLst>
              <a:gd name="adj" fmla="val 6813"/>
            </a:avLst>
          </a:prstGeom>
          <a:gradFill>
            <a:gsLst>
              <a:gs pos="0">
                <a:srgbClr val="E3F2FD"/>
              </a:gs>
              <a:gs pos="100000">
                <a:srgbClr val="FFFFFF"/>
              </a:gs>
            </a:gsLst>
            <a:lin ang="270000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1257300" y="2804368"/>
            <a:ext cx="662940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16213E"/>
                </a:solidFill>
                <a:latin typeface="Plus Jakarta Sans" pitchFamily="34" charset="0"/>
              </a:rPr>
              <a:t>Roadmap Vision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455677" y="3058641"/>
            <a:ext cx="357188" cy="357188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5" name="Text 22"/>
          <p:cNvSpPr/>
          <p:nvPr/>
        </p:nvSpPr>
        <p:spPr>
          <a:xfrm>
            <a:off x="3455677" y="305864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399309" y="3458691"/>
            <a:ext cx="46992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lus Jakarta Sans" pitchFamily="34" charset="0"/>
              </a:rPr>
              <a:t>Automated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069259" y="3058641"/>
            <a:ext cx="357188" cy="357188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8" name="Text 25"/>
          <p:cNvSpPr/>
          <p:nvPr/>
        </p:nvSpPr>
        <p:spPr>
          <a:xfrm>
            <a:off x="4069259" y="305864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</a:rPr>
              <a:t>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069259" y="3458691"/>
            <a:ext cx="35718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lus Jakarta Sans" pitchFamily="34" charset="0"/>
              </a:rPr>
              <a:t>Full Year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4695565" y="3058641"/>
            <a:ext cx="357188" cy="35718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</p:sp>
      <p:sp>
        <p:nvSpPr>
          <p:cNvPr id="31" name="Text 28"/>
          <p:cNvSpPr/>
          <p:nvPr/>
        </p:nvSpPr>
        <p:spPr>
          <a:xfrm>
            <a:off x="4695565" y="305864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</a:rPr>
              <a:t>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626471" y="3458691"/>
            <a:ext cx="495486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lus Jakarta Sans" pitchFamily="34" charset="0"/>
              </a:rPr>
              <a:t>Forecasting</a:t>
            </a:r>
            <a:endParaRPr lang="en-US" sz="600" dirty="0"/>
          </a:p>
        </p:txBody>
      </p:sp>
      <p:sp>
        <p:nvSpPr>
          <p:cNvPr id="33" name="Shape 30"/>
          <p:cNvSpPr/>
          <p:nvPr/>
        </p:nvSpPr>
        <p:spPr>
          <a:xfrm>
            <a:off x="5354687" y="3058641"/>
            <a:ext cx="357188" cy="357188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</p:sp>
      <p:sp>
        <p:nvSpPr>
          <p:cNvPr id="34" name="Text 31"/>
          <p:cNvSpPr/>
          <p:nvPr/>
        </p:nvSpPr>
        <p:spPr>
          <a:xfrm>
            <a:off x="5354687" y="305864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</a:rPr>
              <a:t>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21982" y="3458691"/>
            <a:ext cx="422709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lus Jakarta Sans" pitchFamily="34" charset="0"/>
              </a:rPr>
              <a:t>Real-Time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1128713" y="3867224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128713" y="3867224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38" name="Text 35"/>
          <p:cNvSpPr/>
          <p:nvPr/>
        </p:nvSpPr>
        <p:spPr>
          <a:xfrm>
            <a:off x="1278731" y="3967237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1278731" y="4135785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Be honest about limitations — shows maturity. Single quarter is biggest gap. Roadmap: manual to automated, descriptive to predictive, batch to real-time.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7936037" y="4427227"/>
            <a:ext cx="250701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22 / 24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28713" y="285750"/>
            <a:ext cx="1010283" cy="390004"/>
          </a:xfrm>
          <a:prstGeom prst="rect">
            <a:avLst/>
          </a:prstGeom>
          <a:noFill/>
          <a:ln/>
        </p:spPr>
        <p:txBody>
          <a:bodyPr wrap="none" lIns="0" tIns="0" rIns="0" bIns="95758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Plus Jakarta Sans" pitchFamily="34" charset="0"/>
              </a:rPr>
              <a:t>Conclusion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28713" y="654323"/>
            <a:ext cx="101028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1343025" y="890067"/>
            <a:ext cx="64579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Plus Jakarta Sans" pitchFamily="34" charset="0"/>
              </a:rPr>
              <a:t>The Global Air Quality project delivers a </a:t>
            </a:r>
            <a:r>
              <a:rPr lang="en-US" sz="900" b="1" dirty="0">
                <a:solidFill>
                  <a:srgbClr val="444444"/>
                </a:solidFill>
                <a:latin typeface="Plus Jakarta Sans" pitchFamily="34" charset="0"/>
              </a:rPr>
              <a:t>complete analytics pipeline</a:t>
            </a:r>
            <a:r>
              <a:rPr lang="en-US" sz="900" dirty="0">
                <a:solidFill>
                  <a:srgbClr val="444444"/>
                </a:solidFill>
                <a:latin typeface="Plus Jakarta Sans" pitchFamily="34" charset="0"/>
              </a:rPr>
              <a:t> — from raw WAQI observations through Bronze/Silver/Gold architecture, into a star schema, and finally an interactive Power BI dashboard with ML prediction.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28713" y="1521396"/>
            <a:ext cx="2219251" cy="814276"/>
          </a:xfrm>
          <a:prstGeom prst="roundRect">
            <a:avLst>
              <a:gd name="adj" fmla="val 877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78731" y="1671414"/>
            <a:ext cx="1919213" cy="36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2980B9"/>
                </a:solidFill>
                <a:latin typeface="Plus Jakarta Sans" pitchFamily="34" charset="0"/>
              </a:rPr>
              <a:t>238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78731" y="2037085"/>
            <a:ext cx="191921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Cities analyzed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462263" y="1521396"/>
            <a:ext cx="2219362" cy="814276"/>
          </a:xfrm>
          <a:prstGeom prst="roundRect">
            <a:avLst>
              <a:gd name="adj" fmla="val 877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2282" y="1671414"/>
            <a:ext cx="1919325" cy="36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27AE60"/>
                </a:solidFill>
                <a:latin typeface="Plus Jakarta Sans" pitchFamily="34" charset="0"/>
              </a:rPr>
              <a:t>88.5%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612282" y="2037085"/>
            <a:ext cx="19193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Model R² accuracy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5795925" y="1521396"/>
            <a:ext cx="2219251" cy="814276"/>
          </a:xfrm>
          <a:prstGeom prst="roundRect">
            <a:avLst>
              <a:gd name="adj" fmla="val 8773"/>
            </a:avLst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5944" y="1671414"/>
            <a:ext cx="1919213" cy="36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E94560"/>
                </a:solidFill>
                <a:latin typeface="Plus Jakarta Sans" pitchFamily="34" charset="0"/>
              </a:rPr>
              <a:t>6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945944" y="2037085"/>
            <a:ext cx="191921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Interactive dashboard pages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1128713" y="2507121"/>
            <a:ext cx="6886575" cy="882811"/>
          </a:xfrm>
          <a:prstGeom prst="roundRect">
            <a:avLst>
              <a:gd name="adj" fmla="val 8092"/>
            </a:avLst>
          </a:prstGeom>
          <a:gradFill>
            <a:gsLst>
              <a:gs pos="0">
                <a:srgbClr val="1A1A2E"/>
              </a:gs>
              <a:gs pos="100000">
                <a:srgbClr val="16213E"/>
              </a:gs>
            </a:gsLst>
            <a:lin ang="2700000" scaled="1"/>
          </a:gradFill>
          <a:ln/>
        </p:spPr>
      </p:sp>
      <p:sp>
        <p:nvSpPr>
          <p:cNvPr id="18" name="Text 15"/>
          <p:cNvSpPr/>
          <p:nvPr/>
        </p:nvSpPr>
        <p:spPr>
          <a:xfrm>
            <a:off x="1271588" y="2649996"/>
            <a:ext cx="66008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lus Jakarta Sans" pitchFamily="34" charset="0"/>
              </a:rPr>
              <a:t>Key Takeaway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71588" y="2927152"/>
            <a:ext cx="6600825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dirty="0">
                <a:solidFill>
                  <a:srgbClr val="FFFFFF">
                    <a:alpha val="90000"/>
                  </a:srgbClr>
                </a:solidFill>
                <a:latin typeface="Plus Jakarta Sans" pitchFamily="34" charset="0"/>
              </a:rPr>
              <a:t>Air quality is heavily concentrated by geography — few cities account for disproportionate pollution. Seasonal patterns are clear, and weather correlations, while moderate, are scientifically consistent. The project demonstrates the full lifecycle of modern data analytics.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1128713" y="3532808"/>
            <a:ext cx="6886575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1" name="Shape 18"/>
          <p:cNvSpPr/>
          <p:nvPr/>
        </p:nvSpPr>
        <p:spPr>
          <a:xfrm>
            <a:off x="1128713" y="3532808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2" name="Text 19"/>
          <p:cNvSpPr/>
          <p:nvPr/>
        </p:nvSpPr>
        <p:spPr>
          <a:xfrm>
            <a:off x="1278731" y="3632820"/>
            <a:ext cx="660796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1278731" y="3801368"/>
            <a:ext cx="6607969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Closing argument. Restate scope and impact. "Air quality concentrated by geography" is the headline. Thank supervisor and team. End with confidence.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7935367" y="4189140"/>
            <a:ext cx="251371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23 / 24</a:t>
            </a:r>
            <a:endParaRPr lang="en-US" sz="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3" y="0"/>
            <a:ext cx="7572375" cy="5764560"/>
          </a:xfrm>
          <a:prstGeom prst="roundRect">
            <a:avLst>
              <a:gd name="adj" fmla="val 1983"/>
            </a:avLst>
          </a:prstGeom>
          <a:solidFill>
            <a:srgbClr val="FFFFFF"/>
          </a:solidFill>
          <a:ln/>
          <a:effectLst>
            <a:glow rad="147320">
              <a:srgbClr val="000000">
                <a:alpha val="8000"/>
              </a:srgbClr>
            </a:glow>
          </a:effectLst>
        </p:spPr>
      </p:sp>
      <p:sp>
        <p:nvSpPr>
          <p:cNvPr id="4" name="Shape 1"/>
          <p:cNvSpPr/>
          <p:nvPr/>
        </p:nvSpPr>
        <p:spPr>
          <a:xfrm>
            <a:off x="785813" y="0"/>
            <a:ext cx="7572375" cy="28575"/>
          </a:xfrm>
          <a:prstGeom prst="rect">
            <a:avLst/>
          </a:prstGeom>
          <a:gradFill>
            <a:gsLst>
              <a:gs pos="0">
                <a:srgbClr val="E94560"/>
              </a:gs>
              <a:gs pos="100000">
                <a:srgbClr val="0F3460"/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214438" y="1000125"/>
            <a:ext cx="6715125" cy="59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Plus Jakarta Sans" pitchFamily="34" charset="0"/>
              </a:rPr>
              <a:t>Thank You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321969" y="1737271"/>
            <a:ext cx="500063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3458691" y="2044452"/>
            <a:ext cx="2226506" cy="391455"/>
          </a:xfrm>
          <a:prstGeom prst="rect">
            <a:avLst/>
          </a:prstGeom>
          <a:noFill/>
          <a:ln/>
        </p:spPr>
        <p:txBody>
          <a:bodyPr wrap="none" lIns="0" tIns="0" rIns="0" bIns="7366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Plus Jakarta Sans" pitchFamily="34" charset="0"/>
              </a:rPr>
              <a:t>Questions &amp; Discussion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14438" y="2935970"/>
            <a:ext cx="6715125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Team: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Mohamed Kamel · Omar Fathy · Hasnaa Mohamed · Marwan Emad · Moustafa Khaled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214438" y="3167360"/>
            <a:ext cx="6715125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Supervisor: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Engineer Mohamed El Emam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214438" y="3398751"/>
            <a:ext cx="6715125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Plus Jakarta Sans" pitchFamily="34" charset="0"/>
              </a:rPr>
              <a:t>Program:</a:t>
            </a:r>
            <a:r>
              <a:rPr lang="en-US" sz="700" dirty="0">
                <a:solidFill>
                  <a:srgbClr val="888888"/>
                </a:solidFill>
                <a:latin typeface="Plus Jakarta Sans" pitchFamily="34" charset="0"/>
              </a:rPr>
              <a:t> GIZ4_DAT1_S4 · July 2026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081175" y="3815879"/>
            <a:ext cx="1042764" cy="291443"/>
          </a:xfrm>
          <a:prstGeom prst="roundRect">
            <a:avLst>
              <a:gd name="adj" fmla="val 14707"/>
            </a:avLst>
          </a:prstGeom>
          <a:solidFill>
            <a:srgbClr val="1A1A2E"/>
          </a:solidFill>
          <a:ln/>
        </p:spPr>
      </p:sp>
      <p:sp>
        <p:nvSpPr>
          <p:cNvPr id="12" name="Text 9"/>
          <p:cNvSpPr/>
          <p:nvPr/>
        </p:nvSpPr>
        <p:spPr>
          <a:xfrm>
            <a:off x="2081175" y="3815879"/>
            <a:ext cx="1042764" cy="291443"/>
          </a:xfrm>
          <a:prstGeom prst="rect">
            <a:avLst/>
          </a:prstGeom>
          <a:noFill/>
          <a:ln/>
        </p:spPr>
        <p:txBody>
          <a:bodyPr wrap="none" lIns="147320" tIns="73660" rIns="147320" bIns="7366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lus Jakarta Sans" pitchFamily="34" charset="0"/>
              </a:rPr>
              <a:t>Data Engineering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266815" y="3815879"/>
            <a:ext cx="1266230" cy="291443"/>
          </a:xfrm>
          <a:prstGeom prst="roundRect">
            <a:avLst>
              <a:gd name="adj" fmla="val 14707"/>
            </a:avLst>
          </a:prstGeom>
          <a:solidFill>
            <a:srgbClr val="0F3460"/>
          </a:solidFill>
          <a:ln/>
        </p:spPr>
      </p:sp>
      <p:sp>
        <p:nvSpPr>
          <p:cNvPr id="14" name="Text 11"/>
          <p:cNvSpPr/>
          <p:nvPr/>
        </p:nvSpPr>
        <p:spPr>
          <a:xfrm>
            <a:off x="3266815" y="3815879"/>
            <a:ext cx="1266230" cy="291443"/>
          </a:xfrm>
          <a:prstGeom prst="rect">
            <a:avLst/>
          </a:prstGeom>
          <a:noFill/>
          <a:ln/>
        </p:spPr>
        <p:txBody>
          <a:bodyPr wrap="none" lIns="147320" tIns="73660" rIns="147320" bIns="7366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lus Jakarta Sans" pitchFamily="34" charset="0"/>
              </a:rPr>
              <a:t>Dimensional Modeling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75919" y="3815879"/>
            <a:ext cx="1060289" cy="291443"/>
          </a:xfrm>
          <a:prstGeom prst="roundRect">
            <a:avLst>
              <a:gd name="adj" fmla="val 14707"/>
            </a:avLst>
          </a:prstGeom>
          <a:solidFill>
            <a:srgbClr val="E94560"/>
          </a:solidFill>
          <a:ln/>
        </p:spPr>
      </p:sp>
      <p:sp>
        <p:nvSpPr>
          <p:cNvPr id="16" name="Text 13"/>
          <p:cNvSpPr/>
          <p:nvPr/>
        </p:nvSpPr>
        <p:spPr>
          <a:xfrm>
            <a:off x="4675919" y="3815879"/>
            <a:ext cx="1060289" cy="291443"/>
          </a:xfrm>
          <a:prstGeom prst="rect">
            <a:avLst/>
          </a:prstGeom>
          <a:noFill/>
          <a:ln/>
        </p:spPr>
        <p:txBody>
          <a:bodyPr wrap="none" lIns="147320" tIns="73660" rIns="147320" bIns="7366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lus Jakarta Sans" pitchFamily="34" charset="0"/>
              </a:rPr>
              <a:t>Machine Learning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879083" y="3815879"/>
            <a:ext cx="1183630" cy="291443"/>
          </a:xfrm>
          <a:prstGeom prst="roundRect">
            <a:avLst>
              <a:gd name="adj" fmla="val 14707"/>
            </a:avLst>
          </a:prstGeom>
          <a:solidFill>
            <a:srgbClr val="2980B9"/>
          </a:solidFill>
          <a:ln/>
        </p:spPr>
      </p:sp>
      <p:sp>
        <p:nvSpPr>
          <p:cNvPr id="18" name="Text 15"/>
          <p:cNvSpPr/>
          <p:nvPr/>
        </p:nvSpPr>
        <p:spPr>
          <a:xfrm>
            <a:off x="5879083" y="3815879"/>
            <a:ext cx="1183630" cy="291443"/>
          </a:xfrm>
          <a:prstGeom prst="rect">
            <a:avLst/>
          </a:prstGeom>
          <a:noFill/>
          <a:ln/>
        </p:spPr>
        <p:txBody>
          <a:bodyPr wrap="none" lIns="147320" tIns="73660" rIns="147320" bIns="7366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lus Jakarta Sans" pitchFamily="34" charset="0"/>
              </a:rPr>
              <a:t>Power BI Dashboard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1000125" y="4821696"/>
            <a:ext cx="7143750" cy="514238"/>
          </a:xfrm>
          <a:prstGeom prst="roundRect">
            <a:avLst>
              <a:gd name="adj" fmla="val 11114"/>
            </a:avLst>
          </a:prstGeom>
          <a:solidFill>
            <a:srgbClr val="F0F0F0"/>
          </a:solidFill>
          <a:ln/>
        </p:spPr>
      </p:sp>
      <p:sp>
        <p:nvSpPr>
          <p:cNvPr id="20" name="Shape 17"/>
          <p:cNvSpPr/>
          <p:nvPr/>
        </p:nvSpPr>
        <p:spPr>
          <a:xfrm>
            <a:off x="1000125" y="4821696"/>
            <a:ext cx="21431" cy="514238"/>
          </a:xfrm>
          <a:custGeom>
            <a:pathLst>
              <a:path w="21600" h="21600">
                <a:moveTo>
                  <a:pt x="21600" y="527"/>
                </a:moveTo>
                <a:cubicBezTo>
                  <a:pt x="7947" y="982"/>
                  <a:pt x="0" y="1672"/>
                  <a:pt x="0" y="2401"/>
                </a:cubicBezTo>
                <a:lnTo>
                  <a:pt x="0" y="19199"/>
                </a:lnTo>
                <a:cubicBezTo>
                  <a:pt x="0" y="19928"/>
                  <a:pt x="7947" y="20618"/>
                  <a:pt x="21600" y="21073"/>
                </a:cubicBezTo>
                <a:lnTo>
                  <a:pt x="21600" y="20371"/>
                </a:lnTo>
                <a:cubicBezTo>
                  <a:pt x="21600" y="20086"/>
                  <a:pt x="21600" y="19655"/>
                  <a:pt x="21600" y="19199"/>
                </a:cubicBezTo>
                <a:lnTo>
                  <a:pt x="21600" y="2401"/>
                </a:lnTo>
                <a:cubicBezTo>
                  <a:pt x="21600" y="1945"/>
                  <a:pt x="21600" y="1514"/>
                  <a:pt x="21600" y="1229"/>
                </a:cubicBezTo>
                <a:lnTo>
                  <a:pt x="21600" y="527"/>
                </a:lnTo>
                <a:close/>
              </a:path>
            </a:pathLst>
          </a:custGeom>
          <a:solidFill>
            <a:srgbClr val="AAAAAA"/>
          </a:solidFill>
          <a:ln/>
        </p:spPr>
      </p:sp>
      <p:sp>
        <p:nvSpPr>
          <p:cNvPr id="21" name="Text 18"/>
          <p:cNvSpPr/>
          <p:nvPr/>
        </p:nvSpPr>
        <p:spPr>
          <a:xfrm>
            <a:off x="1150144" y="4921709"/>
            <a:ext cx="686514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spc="78" kern="0" dirty="0">
                <a:solidFill>
                  <a:srgbClr val="888888"/>
                </a:solidFill>
                <a:latin typeface="Plus Jakarta Sans" pitchFamily="34" charset="0"/>
              </a:rPr>
              <a:t>SPEAKER NOTES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1150144" y="5090257"/>
            <a:ext cx="6865144" cy="1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600" i="1" dirty="0">
                <a:solidFill>
                  <a:srgbClr val="666666"/>
                </a:solidFill>
                <a:latin typeface="Plus Jakarta Sans" pitchFamily="34" charset="0"/>
              </a:rPr>
              <a:t>Thank audience. Open for questions. Be ready to discuss: why LightGBM over Random Forest, how AQI formula chosen, next steps, productionization.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934474" y="5524574"/>
            <a:ext cx="252264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Plus Jakarta Sans" pitchFamily="34" charset="0"/>
              </a:rPr>
              <a:t>24 / 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2026-07-09T17:21:41Z</dcterms:created>
  <dcterms:modified xsi:type="dcterms:W3CDTF">2026-07-09T17:21:41Z</dcterms:modified>
</cp:coreProperties>
</file>